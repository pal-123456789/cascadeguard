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Oval 1"/>
          <p:cNvSpPr/>
          <p:nvPr/>
        </p:nvSpPr>
        <p:spPr>
          <a:xfrm>
            <a:off x="7132320" y="1097280"/>
            <a:ext cx="4572000" cy="3200400"/>
          </a:xfrm>
          <a:prstGeom prst="ellipse">
            <a:avLst/>
          </a:prstGeom>
          <a:solidFill>
            <a:srgbClr val="1427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058400" cy="731520"/>
          </a:xfrm>
          <a:prstGeom prst="rect">
            <a:avLst/>
          </a:prstGeom>
          <a:noFill/>
        </p:spPr>
        <p:txBody>
          <a:bodyPr wrap="square">
            <a:spAutoFit/>
          </a:bodyPr>
          <a:lstStyle/>
          <a:p>
            <a:pPr algn="l"/>
            <a:r>
              <a:rPr sz="2000" b="0">
                <a:solidFill>
                  <a:srgbClr val="38BDF8"/>
                </a:solidFill>
                <a:latin typeface="Inter"/>
              </a:rPr>
              <a:t>ORCATHON 2026  ·  TRACK 01  SOFTWARE &amp; AI</a:t>
            </a:r>
          </a:p>
        </p:txBody>
      </p:sp>
      <p:sp>
        <p:nvSpPr>
          <p:cNvPr id="4" name="TextBox 3"/>
          <p:cNvSpPr txBox="1"/>
          <p:nvPr/>
        </p:nvSpPr>
        <p:spPr>
          <a:xfrm>
            <a:off x="731520" y="2011680"/>
            <a:ext cx="10515600" cy="2011680"/>
          </a:xfrm>
          <a:prstGeom prst="rect">
            <a:avLst/>
          </a:prstGeom>
          <a:noFill/>
        </p:spPr>
        <p:txBody>
          <a:bodyPr wrap="square">
            <a:spAutoFit/>
          </a:bodyPr>
          <a:lstStyle/>
          <a:p>
            <a:pPr algn="l"/>
            <a:r>
              <a:rPr sz="7200" b="1">
                <a:solidFill>
                  <a:srgbClr val="F1F5F9"/>
                </a:solidFill>
                <a:latin typeface="Inter"/>
              </a:rPr>
              <a:t>CascadeGuard</a:t>
            </a:r>
          </a:p>
          <a:p>
            <a:pPr algn="l">
              <a:spcBef>
                <a:spcPts val="600"/>
              </a:spcBef>
            </a:pPr>
            <a:r>
              <a:rPr sz="3200" b="0">
                <a:solidFill>
                  <a:srgbClr val="38BDF8"/>
                </a:solidFill>
                <a:latin typeface="Inter"/>
              </a:rPr>
              <a:t>See the outage before it happens.</a:t>
            </a:r>
          </a:p>
        </p:txBody>
      </p:sp>
      <p:sp>
        <p:nvSpPr>
          <p:cNvPr id="5" name="Rounded Rectangle 4"/>
          <p:cNvSpPr/>
          <p:nvPr/>
        </p:nvSpPr>
        <p:spPr>
          <a:xfrm>
            <a:off x="731520" y="4572000"/>
            <a:ext cx="4754880" cy="914400"/>
          </a:xfrm>
          <a:prstGeom prst="roundRect">
            <a:avLst>
              <a:gd name="adj" fmla="val 5000"/>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754880"/>
            <a:ext cx="4389120" cy="640080"/>
          </a:xfrm>
          <a:prstGeom prst="rect">
            <a:avLst/>
          </a:prstGeom>
          <a:noFill/>
        </p:spPr>
        <p:txBody>
          <a:bodyPr wrap="square">
            <a:spAutoFit/>
          </a:bodyPr>
          <a:lstStyle/>
          <a:p>
            <a:pPr algn="l"/>
            <a:r>
              <a:rPr sz="1300" b="1">
                <a:solidFill>
                  <a:srgbClr val="F1F5F9"/>
                </a:solidFill>
                <a:latin typeface="Inter"/>
              </a:rPr>
              <a:t>Measured: 100% recall · 100% origin accuracy · 75s average lead time</a:t>
            </a:r>
          </a:p>
        </p:txBody>
      </p:sp>
      <p:sp>
        <p:nvSpPr>
          <p:cNvPr id="7" name="TextBox 6"/>
          <p:cNvSpPr txBox="1"/>
          <p:nvPr/>
        </p:nvSpPr>
        <p:spPr>
          <a:xfrm>
            <a:off x="731520" y="5577840"/>
            <a:ext cx="10515600" cy="731520"/>
          </a:xfrm>
          <a:prstGeom prst="rect">
            <a:avLst/>
          </a:prstGeom>
          <a:noFill/>
        </p:spPr>
        <p:txBody>
          <a:bodyPr wrap="square">
            <a:spAutoFit/>
          </a:bodyPr>
          <a:lstStyle/>
          <a:p>
            <a:pPr algn="l"/>
            <a:r>
              <a:rPr sz="1500" b="0">
                <a:solidFill>
                  <a:srgbClr val="94A3B8"/>
                </a:solidFill>
                <a:latin typeface="Inter"/>
              </a:rPr>
              <a:t>Predict cascading software failures · trace root causes · recommend optimal recovery — verified live against ground truth.</a:t>
            </a:r>
          </a:p>
        </p:txBody>
      </p:sp>
      <p:sp>
        <p:nvSpPr>
          <p:cNvPr id="8" name="Rectangle 7"/>
          <p:cNvSpPr/>
          <p:nvPr/>
        </p:nvSpPr>
        <p:spPr>
          <a:xfrm>
            <a:off x="502920" y="6446520"/>
            <a:ext cx="11155680"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37960"/>
            <a:ext cx="6400800" cy="274320"/>
          </a:xfrm>
          <a:prstGeom prst="rect">
            <a:avLst/>
          </a:prstGeom>
          <a:noFill/>
        </p:spPr>
        <p:txBody>
          <a:bodyPr wrap="square">
            <a:spAutoFit/>
          </a:bodyPr>
          <a:lstStyle/>
          <a:p>
            <a:pPr algn="l"/>
            <a:r>
              <a:rPr sz="900" b="0">
                <a:solidFill>
                  <a:srgbClr val="64748B"/>
                </a:solidFill>
                <a:latin typeface="Inter"/>
              </a:rPr>
              <a:t>ORCATHON 2026 · TRACK 01 SOFTWARE &amp;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502920" y="320040"/>
            <a:ext cx="11155680" cy="640080"/>
          </a:xfrm>
          <a:prstGeom prst="rect">
            <a:avLst/>
          </a:prstGeom>
          <a:noFill/>
        </p:spPr>
        <p:txBody>
          <a:bodyPr wrap="square">
            <a:spAutoFit/>
          </a:bodyPr>
          <a:lstStyle/>
          <a:p>
            <a:pPr algn="l"/>
            <a:r>
              <a:rPr sz="1800" b="1">
                <a:solidFill>
                  <a:srgbClr val="38BDF8"/>
                </a:solidFill>
                <a:latin typeface="Inter"/>
              </a:rPr>
              <a:t>01  THE PROBLEM  ·  A live digital twin of an e-commerce cluster</a:t>
            </a:r>
          </a:p>
        </p:txBody>
      </p:sp>
      <p:sp>
        <p:nvSpPr>
          <p:cNvPr id="3" name="Oval 2"/>
          <p:cNvSpPr/>
          <p:nvPr/>
        </p:nvSpPr>
        <p:spPr>
          <a:xfrm>
            <a:off x="5029200" y="2011680"/>
            <a:ext cx="914400" cy="5029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0" y="2212848"/>
            <a:ext cx="914400" cy="274320"/>
          </a:xfrm>
          <a:prstGeom prst="rect">
            <a:avLst/>
          </a:prstGeom>
          <a:noFill/>
        </p:spPr>
        <p:txBody>
          <a:bodyPr wrap="none">
            <a:spAutoFit/>
          </a:bodyPr>
          <a:lstStyle/>
          <a:p>
            <a:pPr algn="ctr"/>
            <a:r>
              <a:rPr sz="700">
                <a:solidFill>
                  <a:srgbClr val="F1F5F9"/>
                </a:solidFill>
                <a:latin typeface="JetBrains Mono"/>
              </a:rPr>
              <a:t>edge-gateway</a:t>
            </a:r>
          </a:p>
        </p:txBody>
      </p:sp>
      <p:sp>
        <p:nvSpPr>
          <p:cNvPr id="5" name="Oval 4"/>
          <p:cNvSpPr/>
          <p:nvPr/>
        </p:nvSpPr>
        <p:spPr>
          <a:xfrm>
            <a:off x="2926080" y="3474720"/>
            <a:ext cx="914400" cy="502920"/>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26080" y="3675888"/>
            <a:ext cx="914400" cy="274320"/>
          </a:xfrm>
          <a:prstGeom prst="rect">
            <a:avLst/>
          </a:prstGeom>
          <a:noFill/>
        </p:spPr>
        <p:txBody>
          <a:bodyPr wrap="none">
            <a:spAutoFit/>
          </a:bodyPr>
          <a:lstStyle/>
          <a:p>
            <a:pPr algn="ctr"/>
            <a:r>
              <a:rPr sz="700">
                <a:solidFill>
                  <a:srgbClr val="F1F5F9"/>
                </a:solidFill>
                <a:latin typeface="JetBrains Mono"/>
              </a:rPr>
              <a:t>auth-service</a:t>
            </a:r>
          </a:p>
        </p:txBody>
      </p:sp>
      <p:sp>
        <p:nvSpPr>
          <p:cNvPr id="7" name="Oval 6"/>
          <p:cNvSpPr/>
          <p:nvPr/>
        </p:nvSpPr>
        <p:spPr>
          <a:xfrm>
            <a:off x="5943600" y="3474720"/>
            <a:ext cx="914400" cy="50292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0" y="3675888"/>
            <a:ext cx="914400" cy="274320"/>
          </a:xfrm>
          <a:prstGeom prst="rect">
            <a:avLst/>
          </a:prstGeom>
          <a:noFill/>
        </p:spPr>
        <p:txBody>
          <a:bodyPr wrap="none">
            <a:spAutoFit/>
          </a:bodyPr>
          <a:lstStyle/>
          <a:p>
            <a:pPr algn="ctr"/>
            <a:r>
              <a:rPr sz="700">
                <a:solidFill>
                  <a:srgbClr val="F1F5F9"/>
                </a:solidFill>
                <a:latin typeface="JetBrains Mono"/>
              </a:rPr>
              <a:t>orders-api</a:t>
            </a:r>
          </a:p>
        </p:txBody>
      </p:sp>
      <p:sp>
        <p:nvSpPr>
          <p:cNvPr id="9" name="Oval 8"/>
          <p:cNvSpPr/>
          <p:nvPr/>
        </p:nvSpPr>
        <p:spPr>
          <a:xfrm>
            <a:off x="8046720" y="3474720"/>
            <a:ext cx="914400" cy="50292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3675888"/>
            <a:ext cx="914400" cy="274320"/>
          </a:xfrm>
          <a:prstGeom prst="rect">
            <a:avLst/>
          </a:prstGeom>
          <a:noFill/>
        </p:spPr>
        <p:txBody>
          <a:bodyPr wrap="none">
            <a:spAutoFit/>
          </a:bodyPr>
          <a:lstStyle/>
          <a:p>
            <a:pPr algn="ctr"/>
            <a:r>
              <a:rPr sz="700">
                <a:solidFill>
                  <a:srgbClr val="F1F5F9"/>
                </a:solidFill>
                <a:latin typeface="JetBrains Mono"/>
              </a:rPr>
              <a:t>inventory-api</a:t>
            </a:r>
          </a:p>
        </p:txBody>
      </p:sp>
      <p:sp>
        <p:nvSpPr>
          <p:cNvPr id="11" name="Oval 10"/>
          <p:cNvSpPr/>
          <p:nvPr/>
        </p:nvSpPr>
        <p:spPr>
          <a:xfrm>
            <a:off x="4572000" y="4663440"/>
            <a:ext cx="914400" cy="502920"/>
          </a:xfrm>
          <a:prstGeom prst="ellipse">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4864608"/>
            <a:ext cx="914400" cy="274320"/>
          </a:xfrm>
          <a:prstGeom prst="rect">
            <a:avLst/>
          </a:prstGeom>
          <a:noFill/>
        </p:spPr>
        <p:txBody>
          <a:bodyPr wrap="none">
            <a:spAutoFit/>
          </a:bodyPr>
          <a:lstStyle/>
          <a:p>
            <a:pPr algn="ctr"/>
            <a:r>
              <a:rPr sz="700">
                <a:solidFill>
                  <a:srgbClr val="F1F5F9"/>
                </a:solidFill>
                <a:latin typeface="JetBrains Mono"/>
              </a:rPr>
              <a:t>orders-db</a:t>
            </a:r>
          </a:p>
        </p:txBody>
      </p:sp>
      <p:sp>
        <p:nvSpPr>
          <p:cNvPr id="13" name="Oval 12"/>
          <p:cNvSpPr/>
          <p:nvPr/>
        </p:nvSpPr>
        <p:spPr>
          <a:xfrm>
            <a:off x="2926080" y="4937760"/>
            <a:ext cx="914400" cy="502920"/>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0" y="5138928"/>
            <a:ext cx="914400" cy="274320"/>
          </a:xfrm>
          <a:prstGeom prst="rect">
            <a:avLst/>
          </a:prstGeom>
          <a:noFill/>
        </p:spPr>
        <p:txBody>
          <a:bodyPr wrap="none">
            <a:spAutoFit/>
          </a:bodyPr>
          <a:lstStyle/>
          <a:p>
            <a:pPr algn="ctr"/>
            <a:r>
              <a:rPr sz="700">
                <a:solidFill>
                  <a:srgbClr val="F1F5F9"/>
                </a:solidFill>
                <a:latin typeface="JetBrains Mono"/>
              </a:rPr>
              <a:t>payments-api</a:t>
            </a:r>
          </a:p>
        </p:txBody>
      </p:sp>
      <p:sp>
        <p:nvSpPr>
          <p:cNvPr id="15" name="Oval 14"/>
          <p:cNvSpPr/>
          <p:nvPr/>
        </p:nvSpPr>
        <p:spPr>
          <a:xfrm>
            <a:off x="7680960" y="4937760"/>
            <a:ext cx="914400" cy="5029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0" y="5138928"/>
            <a:ext cx="914400" cy="274320"/>
          </a:xfrm>
          <a:prstGeom prst="rect">
            <a:avLst/>
          </a:prstGeom>
          <a:noFill/>
        </p:spPr>
        <p:txBody>
          <a:bodyPr wrap="none">
            <a:spAutoFit/>
          </a:bodyPr>
          <a:lstStyle/>
          <a:p>
            <a:pPr algn="ctr"/>
            <a:r>
              <a:rPr sz="700">
                <a:solidFill>
                  <a:srgbClr val="F1F5F9"/>
                </a:solidFill>
                <a:latin typeface="JetBrains Mono"/>
              </a:rPr>
              <a:t>redis-cache</a:t>
            </a:r>
          </a:p>
        </p:txBody>
      </p:sp>
      <p:sp>
        <p:nvSpPr>
          <p:cNvPr id="17" name="Oval 16"/>
          <p:cNvSpPr/>
          <p:nvPr/>
        </p:nvSpPr>
        <p:spPr>
          <a:xfrm>
            <a:off x="6035040" y="4937760"/>
            <a:ext cx="914400" cy="502920"/>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35040" y="5138928"/>
            <a:ext cx="914400" cy="274320"/>
          </a:xfrm>
          <a:prstGeom prst="rect">
            <a:avLst/>
          </a:prstGeom>
          <a:noFill/>
        </p:spPr>
        <p:txBody>
          <a:bodyPr wrap="none">
            <a:spAutoFit/>
          </a:bodyPr>
          <a:lstStyle/>
          <a:p>
            <a:pPr algn="ctr"/>
            <a:r>
              <a:rPr sz="700">
                <a:solidFill>
                  <a:srgbClr val="F1F5F9"/>
                </a:solidFill>
                <a:latin typeface="JetBrains Mono"/>
              </a:rPr>
              <a:t>payments-db</a:t>
            </a:r>
          </a:p>
        </p:txBody>
      </p:sp>
      <p:sp>
        <p:nvSpPr>
          <p:cNvPr id="19" name="Down Arrow 18"/>
          <p:cNvSpPr/>
          <p:nvPr/>
        </p:nvSpPr>
        <p:spPr>
          <a:xfrm>
            <a:off x="6583680" y="4023360"/>
            <a:ext cx="320040" cy="457200"/>
          </a:xfrm>
          <a:prstGeom prst="downArrow">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852160"/>
            <a:ext cx="10515600" cy="640080"/>
          </a:xfrm>
          <a:prstGeom prst="rect">
            <a:avLst/>
          </a:prstGeom>
          <a:noFill/>
        </p:spPr>
        <p:txBody>
          <a:bodyPr wrap="square">
            <a:spAutoFit/>
          </a:bodyPr>
          <a:lstStyle/>
          <a:p>
            <a:pPr algn="l"/>
            <a:r>
              <a:rPr sz="1400" b="0">
                <a:solidFill>
                  <a:srgbClr val="94A3B8"/>
                </a:solidFill>
                <a:latin typeface="Inter"/>
              </a:rPr>
              <a:t>Outages don't start with a bang — they start with one saturated connection pool that quietly spreads through dependency chains until the whole system is down. CascadeGuard sees that spread before it happens.</a:t>
            </a:r>
          </a:p>
        </p:txBody>
      </p:sp>
      <p:sp>
        <p:nvSpPr>
          <p:cNvPr id="21" name="Rectangle 20"/>
          <p:cNvSpPr/>
          <p:nvPr/>
        </p:nvSpPr>
        <p:spPr>
          <a:xfrm>
            <a:off x="502920" y="6446520"/>
            <a:ext cx="11155680"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37960"/>
            <a:ext cx="6400800" cy="274320"/>
          </a:xfrm>
          <a:prstGeom prst="rect">
            <a:avLst/>
          </a:prstGeom>
          <a:noFill/>
        </p:spPr>
        <p:txBody>
          <a:bodyPr wrap="square">
            <a:spAutoFit/>
          </a:bodyPr>
          <a:lstStyle/>
          <a:p>
            <a:pPr algn="l"/>
            <a:r>
              <a:rPr sz="900" b="0">
                <a:solidFill>
                  <a:srgbClr val="64748B"/>
                </a:solidFill>
                <a:latin typeface="Inter"/>
              </a:rPr>
              <a:t>ORCATHON 2026 · TRACK 01 SOFTWARE &amp; 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502920" y="320040"/>
            <a:ext cx="11155680" cy="640080"/>
          </a:xfrm>
          <a:prstGeom prst="rect">
            <a:avLst/>
          </a:prstGeom>
          <a:noFill/>
        </p:spPr>
        <p:txBody>
          <a:bodyPr wrap="square">
            <a:spAutoFit/>
          </a:bodyPr>
          <a:lstStyle/>
          <a:p>
            <a:pPr algn="l"/>
            <a:r>
              <a:rPr sz="1800" b="1">
                <a:solidFill>
                  <a:srgbClr val="38BDF8"/>
                </a:solidFill>
                <a:latin typeface="Inter"/>
              </a:rPr>
              <a:t>02  PREDICTION  ·  120 s of actionable warning before the origin service dies</a:t>
            </a:r>
          </a:p>
        </p:txBody>
      </p:sp>
      <p:sp>
        <p:nvSpPr>
          <p:cNvPr id="3" name="Rectangle 2"/>
          <p:cNvSpPr/>
          <p:nvPr/>
        </p:nvSpPr>
        <p:spPr>
          <a:xfrm>
            <a:off x="731520" y="2560320"/>
            <a:ext cx="457200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743200"/>
            <a:ext cx="4206240" cy="365760"/>
          </a:xfrm>
          <a:prstGeom prst="rect">
            <a:avLst/>
          </a:prstGeom>
          <a:noFill/>
        </p:spPr>
        <p:txBody>
          <a:bodyPr wrap="square">
            <a:spAutoFit/>
          </a:bodyPr>
          <a:lstStyle/>
          <a:p>
            <a:pPr algn="l"/>
            <a:r>
              <a:rPr sz="1300" b="1">
                <a:solidFill>
                  <a:srgbClr val="38BDF8"/>
                </a:solidFill>
                <a:latin typeface="Inter"/>
              </a:rPr>
              <a:t>Pool-Exhaustion Scenario</a:t>
            </a:r>
          </a:p>
        </p:txBody>
      </p:sp>
      <p:sp>
        <p:nvSpPr>
          <p:cNvPr id="5" name="TextBox 4"/>
          <p:cNvSpPr txBox="1"/>
          <p:nvPr/>
        </p:nvSpPr>
        <p:spPr>
          <a:xfrm>
            <a:off x="914400" y="3108960"/>
            <a:ext cx="4206240" cy="914400"/>
          </a:xfrm>
          <a:prstGeom prst="rect">
            <a:avLst/>
          </a:prstGeom>
          <a:noFill/>
        </p:spPr>
        <p:txBody>
          <a:bodyPr wrap="square">
            <a:spAutoFit/>
          </a:bodyPr>
          <a:lstStyle/>
          <a:p>
            <a:pPr algn="l"/>
            <a:r>
              <a:rPr sz="6400" b="1">
                <a:solidFill>
                  <a:srgbClr val="F1F5F9"/>
                </a:solidFill>
                <a:latin typeface="Inter"/>
              </a:rPr>
              <a:t>120 s</a:t>
            </a:r>
          </a:p>
        </p:txBody>
      </p:sp>
      <p:sp>
        <p:nvSpPr>
          <p:cNvPr id="6" name="TextBox 5"/>
          <p:cNvSpPr txBox="1"/>
          <p:nvPr/>
        </p:nvSpPr>
        <p:spPr>
          <a:xfrm>
            <a:off x="914400" y="4206240"/>
            <a:ext cx="4206240" cy="640080"/>
          </a:xfrm>
          <a:prstGeom prst="rect">
            <a:avLst/>
          </a:prstGeom>
          <a:noFill/>
        </p:spPr>
        <p:txBody>
          <a:bodyPr wrap="square">
            <a:spAutoFit/>
          </a:bodyPr>
          <a:lstStyle/>
          <a:p>
            <a:pPr algn="l"/>
            <a:r>
              <a:rPr sz="1200" b="0">
                <a:solidFill>
                  <a:srgbClr val="94A3B8"/>
                </a:solidFill>
                <a:latin typeface="Inter"/>
              </a:rPr>
              <a:t>Warning lead time before failure
Precision 100% · Recall 100% · 0 missed</a:t>
            </a:r>
          </a:p>
        </p:txBody>
      </p:sp>
      <p:sp>
        <p:nvSpPr>
          <p:cNvPr id="7" name="Rectangle 6"/>
          <p:cNvSpPr/>
          <p:nvPr/>
        </p:nvSpPr>
        <p:spPr>
          <a:xfrm>
            <a:off x="5852160" y="2560320"/>
            <a:ext cx="530352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0" y="2743200"/>
            <a:ext cx="4937760" cy="365760"/>
          </a:xfrm>
          <a:prstGeom prst="rect">
            <a:avLst/>
          </a:prstGeom>
          <a:noFill/>
        </p:spPr>
        <p:txBody>
          <a:bodyPr wrap="square">
            <a:spAutoFit/>
          </a:bodyPr>
          <a:lstStyle/>
          <a:p>
            <a:pPr algn="l"/>
            <a:r>
              <a:rPr sz="1300" b="1">
                <a:solidFill>
                  <a:srgbClr val="38BDF8"/>
                </a:solidFill>
                <a:latin typeface="Inter"/>
              </a:rPr>
              <a:t>How it works</a:t>
            </a:r>
          </a:p>
        </p:txBody>
      </p:sp>
      <p:sp>
        <p:nvSpPr>
          <p:cNvPr id="9" name="TextBox 8"/>
          <p:cNvSpPr txBox="1"/>
          <p:nvPr/>
        </p:nvSpPr>
        <p:spPr>
          <a:xfrm>
            <a:off x="6035040" y="3108960"/>
            <a:ext cx="4937760" cy="1737360"/>
          </a:xfrm>
          <a:prstGeom prst="rect">
            <a:avLst/>
          </a:prstGeom>
          <a:noFill/>
        </p:spPr>
        <p:txBody>
          <a:bodyPr wrap="square">
            <a:spAutoFit/>
          </a:bodyPr>
          <a:lstStyle/>
          <a:p>
            <a:pPr algn="l"/>
            <a:r>
              <a:rPr sz="1300" b="0">
                <a:solidFill>
                  <a:srgbClr val="94A3B8"/>
                </a:solidFill>
                <a:latin typeface="Inter"/>
              </a:rPr>
              <a:t>A hybrid AI engine reads live telemetry — saturation, error rate, memory, latency — and runs a logistic risk scorer plus dependency-graph propagation. The predictor never sees the ground-truth failure label; it learns only from the telemetry stream. Every prediction is auto-verified against what actually breaks.</a:t>
            </a:r>
          </a:p>
        </p:txBody>
      </p:sp>
      <p:sp>
        <p:nvSpPr>
          <p:cNvPr id="10" name="Rounded Rectangle 9"/>
          <p:cNvSpPr/>
          <p:nvPr/>
        </p:nvSpPr>
        <p:spPr>
          <a:xfrm>
            <a:off x="731520" y="5120640"/>
            <a:ext cx="10515600" cy="822960"/>
          </a:xfrm>
          <a:prstGeom prst="roundRect">
            <a:avLst>
              <a:gd name="adj" fmla="val 5000"/>
            </a:avLst>
          </a:prstGeom>
          <a:solidFill>
            <a:srgbClr val="14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66360"/>
            <a:ext cx="10149840" cy="640080"/>
          </a:xfrm>
          <a:prstGeom prst="rect">
            <a:avLst/>
          </a:prstGeom>
          <a:noFill/>
        </p:spPr>
        <p:txBody>
          <a:bodyPr wrap="square">
            <a:spAutoFit/>
          </a:bodyPr>
          <a:lstStyle/>
          <a:p>
            <a:pPr algn="l"/>
            <a:r>
              <a:rPr sz="1100" b="0">
                <a:solidFill>
                  <a:srgbClr val="F1F5F9"/>
                </a:solidFill>
                <a:latin typeface="Inter"/>
              </a:rPr>
              <a:t>PREDICTION LEDGER  ·  orders-db · Risk 86% · ✓ HIT · 120 s early  ·  Confirmed at T+03:00  ·  SEV-1 cascade started</a:t>
            </a:r>
          </a:p>
        </p:txBody>
      </p:sp>
      <p:sp>
        <p:nvSpPr>
          <p:cNvPr id="12" name="Rectangle 11"/>
          <p:cNvSpPr/>
          <p:nvPr/>
        </p:nvSpPr>
        <p:spPr>
          <a:xfrm>
            <a:off x="502920" y="6446520"/>
            <a:ext cx="11155680"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37960"/>
            <a:ext cx="6400800" cy="274320"/>
          </a:xfrm>
          <a:prstGeom prst="rect">
            <a:avLst/>
          </a:prstGeom>
          <a:noFill/>
        </p:spPr>
        <p:txBody>
          <a:bodyPr wrap="square">
            <a:spAutoFit/>
          </a:bodyPr>
          <a:lstStyle/>
          <a:p>
            <a:pPr algn="l"/>
            <a:r>
              <a:rPr sz="900" b="0">
                <a:solidFill>
                  <a:srgbClr val="64748B"/>
                </a:solidFill>
                <a:latin typeface="Inter"/>
              </a:rPr>
              <a:t>LIVE URL: https://cascadeguard-ten.vercel.app/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502920" y="320040"/>
            <a:ext cx="11155680" cy="640080"/>
          </a:xfrm>
          <a:prstGeom prst="rect">
            <a:avLst/>
          </a:prstGeom>
          <a:noFill/>
        </p:spPr>
        <p:txBody>
          <a:bodyPr wrap="square">
            <a:spAutoFit/>
          </a:bodyPr>
          <a:lstStyle/>
          <a:p>
            <a:pPr algn="l"/>
            <a:r>
              <a:rPr sz="1800" b="1">
                <a:solidFill>
                  <a:srgbClr val="38BDF8"/>
                </a:solidFill>
                <a:latin typeface="Inter"/>
              </a:rPr>
              <a:t>03  ROOT-CAUSE TRACE  ·  Not the loudest failure — the true origin</a:t>
            </a:r>
          </a:p>
        </p:txBody>
      </p:sp>
      <p:sp>
        <p:nvSpPr>
          <p:cNvPr id="3" name="Oval 2"/>
          <p:cNvSpPr/>
          <p:nvPr/>
        </p:nvSpPr>
        <p:spPr>
          <a:xfrm>
            <a:off x="1371600" y="2286000"/>
            <a:ext cx="1463040" cy="64008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87168"/>
            <a:ext cx="1463040" cy="320040"/>
          </a:xfrm>
          <a:prstGeom prst="rect">
            <a:avLst/>
          </a:prstGeom>
          <a:noFill/>
        </p:spPr>
        <p:txBody>
          <a:bodyPr wrap="none">
            <a:spAutoFit/>
          </a:bodyPr>
          <a:lstStyle/>
          <a:p>
            <a:pPr algn="ctr"/>
            <a:r>
              <a:rPr sz="900" b="0">
                <a:solidFill>
                  <a:srgbClr val="F1F5F9"/>
                </a:solidFill>
                <a:latin typeface="Inter"/>
              </a:rPr>
              <a:t>Edge Gateway</a:t>
            </a:r>
          </a:p>
        </p:txBody>
      </p:sp>
      <p:sp>
        <p:nvSpPr>
          <p:cNvPr id="5" name="Oval 4"/>
          <p:cNvSpPr/>
          <p:nvPr/>
        </p:nvSpPr>
        <p:spPr>
          <a:xfrm>
            <a:off x="3840480" y="2286000"/>
            <a:ext cx="1463040" cy="64008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840480" y="2487168"/>
            <a:ext cx="1463040" cy="320040"/>
          </a:xfrm>
          <a:prstGeom prst="rect">
            <a:avLst/>
          </a:prstGeom>
          <a:noFill/>
        </p:spPr>
        <p:txBody>
          <a:bodyPr wrap="none">
            <a:spAutoFit/>
          </a:bodyPr>
          <a:lstStyle/>
          <a:p>
            <a:pPr algn="ctr"/>
            <a:r>
              <a:rPr sz="900" b="0">
                <a:solidFill>
                  <a:srgbClr val="F1F5F9"/>
                </a:solidFill>
                <a:latin typeface="Inter"/>
              </a:rPr>
              <a:t>Orders API</a:t>
            </a:r>
          </a:p>
        </p:txBody>
      </p:sp>
      <p:sp>
        <p:nvSpPr>
          <p:cNvPr id="7" name="Oval 6"/>
          <p:cNvSpPr/>
          <p:nvPr/>
        </p:nvSpPr>
        <p:spPr>
          <a:xfrm>
            <a:off x="6309360" y="2286000"/>
            <a:ext cx="1463040" cy="640080"/>
          </a:xfrm>
          <a:prstGeom prst="ellipse">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2487168"/>
            <a:ext cx="1463040" cy="320040"/>
          </a:xfrm>
          <a:prstGeom prst="rect">
            <a:avLst/>
          </a:prstGeom>
          <a:noFill/>
        </p:spPr>
        <p:txBody>
          <a:bodyPr wrap="none">
            <a:spAutoFit/>
          </a:bodyPr>
          <a:lstStyle/>
          <a:p>
            <a:pPr algn="ctr"/>
            <a:r>
              <a:rPr sz="900" b="1">
                <a:solidFill>
                  <a:srgbClr val="F1F5F9"/>
                </a:solidFill>
                <a:latin typeface="Inter"/>
              </a:rPr>
              <a:t>Orders DB  ✓ ORIGIN</a:t>
            </a:r>
          </a:p>
        </p:txBody>
      </p:sp>
      <p:sp>
        <p:nvSpPr>
          <p:cNvPr id="9" name="Right Arrow 8"/>
          <p:cNvSpPr/>
          <p:nvPr/>
        </p:nvSpPr>
        <p:spPr>
          <a:xfrm>
            <a:off x="2926080" y="2542032"/>
            <a:ext cx="640080" cy="137160"/>
          </a:xfrm>
          <a:prstGeom prst="rightArrow">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5394960" y="2542032"/>
            <a:ext cx="640080" cy="137160"/>
          </a:xfrm>
          <a:prstGeom prst="rightArrow">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57600"/>
            <a:ext cx="10515600" cy="2560320"/>
          </a:xfrm>
          <a:prstGeom prst="rect">
            <a:avLst/>
          </a:prstGeom>
          <a:noFill/>
        </p:spPr>
        <p:txBody>
          <a:bodyPr wrap="square">
            <a:spAutoFit/>
          </a:bodyPr>
          <a:lstStyle/>
          <a:p>
            <a:pPr algn="l"/>
            <a:r>
              <a:rPr sz="1400" b="0">
                <a:solidFill>
                  <a:srgbClr val="94A3B8"/>
                </a:solidFill>
                <a:latin typeface="Inter"/>
              </a:rPr>
              <a:t>The root-cause analyser combines: temporal precedence (who went wrong first) + self-inflicted severity (own saturation / memory / error rate) + dependency-explained share (is this service's distress explained by an unhealthy dependency?).
Across all 4 fault scenarios, the true origin is identified with 100% accuracy.</a:t>
            </a:r>
          </a:p>
        </p:txBody>
      </p:sp>
      <p:sp>
        <p:nvSpPr>
          <p:cNvPr id="12" name="Rounded Rectangle 11"/>
          <p:cNvSpPr/>
          <p:nvPr/>
        </p:nvSpPr>
        <p:spPr>
          <a:xfrm>
            <a:off x="731520" y="5486400"/>
            <a:ext cx="10515600" cy="640080"/>
          </a:xfrm>
          <a:prstGeom prst="roundRect">
            <a:avLst>
              <a:gd name="adj" fmla="val 5000"/>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532120"/>
            <a:ext cx="10149840" cy="548640"/>
          </a:xfrm>
          <a:prstGeom prst="rect">
            <a:avLst/>
          </a:prstGeom>
          <a:noFill/>
        </p:spPr>
        <p:txBody>
          <a:bodyPr wrap="square">
            <a:spAutoFit/>
          </a:bodyPr>
          <a:lstStyle/>
          <a:p>
            <a:pPr algn="l"/>
            <a:r>
              <a:rPr sz="1100" b="0">
                <a:solidFill>
                  <a:srgbClr val="F1F5F9"/>
                </a:solidFill>
                <a:latin typeface="Inter"/>
              </a:rPr>
              <a:t>EVIDENCE  ·  orders-db: saturation 1.30 (baseline 0.62) · error rate 95% (baseline 5%) · evidence from structured server logs · cascade path orders-db → orders-api → inventory-api</a:t>
            </a:r>
          </a:p>
        </p:txBody>
      </p:sp>
      <p:sp>
        <p:nvSpPr>
          <p:cNvPr id="14" name="Rectangle 13"/>
          <p:cNvSpPr/>
          <p:nvPr/>
        </p:nvSpPr>
        <p:spPr>
          <a:xfrm>
            <a:off x="502920" y="6446520"/>
            <a:ext cx="11155680"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37960"/>
            <a:ext cx="6400800" cy="274320"/>
          </a:xfrm>
          <a:prstGeom prst="rect">
            <a:avLst/>
          </a:prstGeom>
          <a:noFill/>
        </p:spPr>
        <p:txBody>
          <a:bodyPr wrap="square">
            <a:spAutoFit/>
          </a:bodyPr>
          <a:lstStyle/>
          <a:p>
            <a:pPr algn="l"/>
            <a:r>
              <a:rPr sz="900" b="0">
                <a:solidFill>
                  <a:srgbClr val="64748B"/>
                </a:solidFill>
                <a:latin typeface="Inter"/>
              </a:rPr>
              <a:t>ORCATHON 2026 · TRACK 01 SOFTWARE &amp; 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502920" y="320040"/>
            <a:ext cx="11155680" cy="640080"/>
          </a:xfrm>
          <a:prstGeom prst="rect">
            <a:avLst/>
          </a:prstGeom>
          <a:noFill/>
        </p:spPr>
        <p:txBody>
          <a:bodyPr wrap="square">
            <a:spAutoFit/>
          </a:bodyPr>
          <a:lstStyle/>
          <a:p>
            <a:pPr algn="l"/>
            <a:r>
              <a:rPr sz="1800" b="1">
                <a:solidFill>
                  <a:srgbClr val="38BDF8"/>
                </a:solidFill>
                <a:latin typeface="Inter"/>
              </a:rPr>
              <a:t>04  RECOVERY OPTIMIZER  ·  Monte-Carlo: 30 paired rollouts per strategy</a:t>
            </a:r>
          </a:p>
        </p:txBody>
      </p:sp>
      <p:sp>
        <p:nvSpPr>
          <p:cNvPr id="3" name="Rectangle 2"/>
          <p:cNvSpPr/>
          <p:nvPr/>
        </p:nvSpPr>
        <p:spPr>
          <a:xfrm>
            <a:off x="1371600" y="2743200"/>
            <a:ext cx="2926080" cy="4572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788920"/>
            <a:ext cx="2926080" cy="365760"/>
          </a:xfrm>
          <a:prstGeom prst="rect">
            <a:avLst/>
          </a:prstGeom>
          <a:noFill/>
        </p:spPr>
        <p:txBody>
          <a:bodyPr wrap="none">
            <a:spAutoFit/>
          </a:bodyPr>
          <a:lstStyle/>
          <a:p>
            <a:pPr algn="ctr"/>
            <a:r>
              <a:rPr sz="1100" b="1">
                <a:solidFill>
                  <a:srgbClr val="38BDF8"/>
                </a:solidFill>
                <a:latin typeface="Inter"/>
              </a:rPr>
              <a:t>Strategy</a:t>
            </a:r>
          </a:p>
        </p:txBody>
      </p:sp>
      <p:sp>
        <p:nvSpPr>
          <p:cNvPr id="5" name="Rectangle 4"/>
          <p:cNvSpPr/>
          <p:nvPr/>
        </p:nvSpPr>
        <p:spPr>
          <a:xfrm>
            <a:off x="4297680" y="2743200"/>
            <a:ext cx="1097280" cy="4572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0" y="2788920"/>
            <a:ext cx="1097280" cy="365760"/>
          </a:xfrm>
          <a:prstGeom prst="rect">
            <a:avLst/>
          </a:prstGeom>
          <a:noFill/>
        </p:spPr>
        <p:txBody>
          <a:bodyPr wrap="none">
            <a:spAutoFit/>
          </a:bodyPr>
          <a:lstStyle/>
          <a:p>
            <a:pPr algn="ctr"/>
            <a:r>
              <a:rPr sz="1100" b="1">
                <a:solidFill>
                  <a:srgbClr val="38BDF8"/>
                </a:solidFill>
                <a:latin typeface="Inter"/>
              </a:rPr>
              <a:t>Success %</a:t>
            </a:r>
          </a:p>
        </p:txBody>
      </p:sp>
      <p:sp>
        <p:nvSpPr>
          <p:cNvPr id="7" name="Rectangle 6"/>
          <p:cNvSpPr/>
          <p:nvPr/>
        </p:nvSpPr>
        <p:spPr>
          <a:xfrm>
            <a:off x="5394960" y="2743200"/>
            <a:ext cx="1097280" cy="4572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0" y="2788920"/>
            <a:ext cx="1097280" cy="365760"/>
          </a:xfrm>
          <a:prstGeom prst="rect">
            <a:avLst/>
          </a:prstGeom>
          <a:noFill/>
        </p:spPr>
        <p:txBody>
          <a:bodyPr wrap="none">
            <a:spAutoFit/>
          </a:bodyPr>
          <a:lstStyle/>
          <a:p>
            <a:pPr algn="ctr"/>
            <a:r>
              <a:rPr sz="1100" b="1">
                <a:solidFill>
                  <a:srgbClr val="38BDF8"/>
                </a:solidFill>
                <a:latin typeface="Inter"/>
              </a:rPr>
              <a:t>New failures</a:t>
            </a:r>
          </a:p>
        </p:txBody>
      </p:sp>
      <p:sp>
        <p:nvSpPr>
          <p:cNvPr id="9" name="Rectangle 8"/>
          <p:cNvSpPr/>
          <p:nvPr/>
        </p:nvSpPr>
        <p:spPr>
          <a:xfrm>
            <a:off x="6492240" y="2743200"/>
            <a:ext cx="1097280" cy="4572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788920"/>
            <a:ext cx="1097280" cy="365760"/>
          </a:xfrm>
          <a:prstGeom prst="rect">
            <a:avLst/>
          </a:prstGeom>
          <a:noFill/>
        </p:spPr>
        <p:txBody>
          <a:bodyPr wrap="none">
            <a:spAutoFit/>
          </a:bodyPr>
          <a:lstStyle/>
          <a:p>
            <a:pPr algn="ctr"/>
            <a:r>
              <a:rPr sz="1100" b="1">
                <a:solidFill>
                  <a:srgbClr val="38BDF8"/>
                </a:solidFill>
                <a:latin typeface="Inter"/>
              </a:rPr>
              <a:t>MTTR</a:t>
            </a:r>
          </a:p>
        </p:txBody>
      </p:sp>
      <p:sp>
        <p:nvSpPr>
          <p:cNvPr id="11" name="Rectangle 10"/>
          <p:cNvSpPr/>
          <p:nvPr/>
        </p:nvSpPr>
        <p:spPr>
          <a:xfrm>
            <a:off x="7589520" y="2743200"/>
            <a:ext cx="731520" cy="4572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0" y="2788920"/>
            <a:ext cx="731520" cy="365760"/>
          </a:xfrm>
          <a:prstGeom prst="rect">
            <a:avLst/>
          </a:prstGeom>
          <a:noFill/>
        </p:spPr>
        <p:txBody>
          <a:bodyPr wrap="none">
            <a:spAutoFit/>
          </a:bodyPr>
          <a:lstStyle/>
          <a:p>
            <a:pPr algn="ctr"/>
            <a:r>
              <a:rPr sz="1100" b="1">
                <a:solidFill>
                  <a:srgbClr val="38BDF8"/>
                </a:solidFill>
                <a:latin typeface="Inter"/>
              </a:rPr>
              <a:t>Cost</a:t>
            </a:r>
          </a:p>
        </p:txBody>
      </p:sp>
      <p:sp>
        <p:nvSpPr>
          <p:cNvPr id="13" name="Rectangle 12"/>
          <p:cNvSpPr/>
          <p:nvPr/>
        </p:nvSpPr>
        <p:spPr>
          <a:xfrm>
            <a:off x="8321040" y="2743200"/>
            <a:ext cx="1828800" cy="4572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788920"/>
            <a:ext cx="1828800" cy="365760"/>
          </a:xfrm>
          <a:prstGeom prst="rect">
            <a:avLst/>
          </a:prstGeom>
          <a:noFill/>
        </p:spPr>
        <p:txBody>
          <a:bodyPr wrap="none">
            <a:spAutoFit/>
          </a:bodyPr>
          <a:lstStyle/>
          <a:p>
            <a:pPr algn="ctr"/>
            <a:r>
              <a:rPr sz="1100" b="1">
                <a:solidFill>
                  <a:srgbClr val="38BDF8"/>
                </a:solidFill>
                <a:latin typeface="Inter"/>
              </a:rPr>
              <a:t>Verdict</a:t>
            </a:r>
          </a:p>
        </p:txBody>
      </p:sp>
      <p:sp>
        <p:nvSpPr>
          <p:cNvPr id="15" name="Rectangle 14"/>
          <p:cNvSpPr/>
          <p:nvPr/>
        </p:nvSpPr>
        <p:spPr>
          <a:xfrm>
            <a:off x="1371600" y="3246120"/>
            <a:ext cx="29260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3319272"/>
            <a:ext cx="2926080" cy="320040"/>
          </a:xfrm>
          <a:prstGeom prst="rect">
            <a:avLst/>
          </a:prstGeom>
          <a:noFill/>
        </p:spPr>
        <p:txBody>
          <a:bodyPr wrap="none">
            <a:spAutoFit/>
          </a:bodyPr>
          <a:lstStyle/>
          <a:p>
            <a:pPr algn="ctr"/>
            <a:r>
              <a:rPr sz="1000">
                <a:solidFill>
                  <a:srgbClr val="F1F5F9"/>
                </a:solidFill>
                <a:latin typeface="JetBrains Mono"/>
              </a:rPr>
              <a:t>failover:orders-db</a:t>
            </a:r>
          </a:p>
        </p:txBody>
      </p:sp>
      <p:sp>
        <p:nvSpPr>
          <p:cNvPr id="17" name="Rectangle 16"/>
          <p:cNvSpPr/>
          <p:nvPr/>
        </p:nvSpPr>
        <p:spPr>
          <a:xfrm>
            <a:off x="4297680" y="3246120"/>
            <a:ext cx="10972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3319272"/>
            <a:ext cx="1097280" cy="320040"/>
          </a:xfrm>
          <a:prstGeom prst="rect">
            <a:avLst/>
          </a:prstGeom>
          <a:noFill/>
        </p:spPr>
        <p:txBody>
          <a:bodyPr wrap="none">
            <a:spAutoFit/>
          </a:bodyPr>
          <a:lstStyle/>
          <a:p>
            <a:pPr algn="ctr"/>
            <a:r>
              <a:rPr sz="1000">
                <a:solidFill>
                  <a:srgbClr val="F1F5F9"/>
                </a:solidFill>
                <a:latin typeface="JetBrains Mono"/>
              </a:rPr>
              <a:t>100%</a:t>
            </a:r>
          </a:p>
        </p:txBody>
      </p:sp>
      <p:sp>
        <p:nvSpPr>
          <p:cNvPr id="19" name="Rectangle 18"/>
          <p:cNvSpPr/>
          <p:nvPr/>
        </p:nvSpPr>
        <p:spPr>
          <a:xfrm>
            <a:off x="5394960" y="3246120"/>
            <a:ext cx="10972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0" y="3319272"/>
            <a:ext cx="1097280" cy="320040"/>
          </a:xfrm>
          <a:prstGeom prst="rect">
            <a:avLst/>
          </a:prstGeom>
          <a:noFill/>
        </p:spPr>
        <p:txBody>
          <a:bodyPr wrap="none">
            <a:spAutoFit/>
          </a:bodyPr>
          <a:lstStyle/>
          <a:p>
            <a:pPr algn="ctr"/>
            <a:r>
              <a:rPr sz="1000">
                <a:solidFill>
                  <a:srgbClr val="F1F5F9"/>
                </a:solidFill>
                <a:latin typeface="JetBrains Mono"/>
              </a:rPr>
              <a:t>0.0</a:t>
            </a:r>
          </a:p>
        </p:txBody>
      </p:sp>
      <p:sp>
        <p:nvSpPr>
          <p:cNvPr id="21" name="Rectangle 20"/>
          <p:cNvSpPr/>
          <p:nvPr/>
        </p:nvSpPr>
        <p:spPr>
          <a:xfrm>
            <a:off x="6492240" y="3246120"/>
            <a:ext cx="10972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3319272"/>
            <a:ext cx="1097280" cy="320040"/>
          </a:xfrm>
          <a:prstGeom prst="rect">
            <a:avLst/>
          </a:prstGeom>
          <a:noFill/>
        </p:spPr>
        <p:txBody>
          <a:bodyPr wrap="none">
            <a:spAutoFit/>
          </a:bodyPr>
          <a:lstStyle/>
          <a:p>
            <a:pPr algn="ctr"/>
            <a:r>
              <a:rPr sz="1000">
                <a:solidFill>
                  <a:srgbClr val="F1F5F9"/>
                </a:solidFill>
                <a:latin typeface="JetBrains Mono"/>
              </a:rPr>
              <a:t>12m</a:t>
            </a:r>
          </a:p>
        </p:txBody>
      </p:sp>
      <p:sp>
        <p:nvSpPr>
          <p:cNvPr id="23" name="Rectangle 22"/>
          <p:cNvSpPr/>
          <p:nvPr/>
        </p:nvSpPr>
        <p:spPr>
          <a:xfrm>
            <a:off x="7589520" y="3246120"/>
            <a:ext cx="73152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0" y="3319272"/>
            <a:ext cx="731520" cy="320040"/>
          </a:xfrm>
          <a:prstGeom prst="rect">
            <a:avLst/>
          </a:prstGeom>
          <a:noFill/>
        </p:spPr>
        <p:txBody>
          <a:bodyPr wrap="none">
            <a:spAutoFit/>
          </a:bodyPr>
          <a:lstStyle/>
          <a:p>
            <a:pPr algn="ctr"/>
            <a:r>
              <a:rPr sz="1000">
                <a:solidFill>
                  <a:srgbClr val="F1F5F9"/>
                </a:solidFill>
                <a:latin typeface="JetBrains Mono"/>
              </a:rPr>
              <a:t>45</a:t>
            </a:r>
          </a:p>
        </p:txBody>
      </p:sp>
      <p:sp>
        <p:nvSpPr>
          <p:cNvPr id="25" name="Rectangle 24"/>
          <p:cNvSpPr/>
          <p:nvPr/>
        </p:nvSpPr>
        <p:spPr>
          <a:xfrm>
            <a:off x="8321040" y="3246120"/>
            <a:ext cx="182880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319272"/>
            <a:ext cx="1828800" cy="320040"/>
          </a:xfrm>
          <a:prstGeom prst="rect">
            <a:avLst/>
          </a:prstGeom>
          <a:noFill/>
        </p:spPr>
        <p:txBody>
          <a:bodyPr wrap="none">
            <a:spAutoFit/>
          </a:bodyPr>
          <a:lstStyle/>
          <a:p>
            <a:pPr algn="ctr"/>
            <a:r>
              <a:rPr sz="1000">
                <a:solidFill>
                  <a:srgbClr val="F1F5F9"/>
                </a:solidFill>
                <a:latin typeface="JetBrains Mono"/>
              </a:rPr>
              <a:t>recommended</a:t>
            </a:r>
          </a:p>
        </p:txBody>
      </p:sp>
      <p:sp>
        <p:nvSpPr>
          <p:cNvPr id="27" name="Rectangle 26"/>
          <p:cNvSpPr/>
          <p:nvPr/>
        </p:nvSpPr>
        <p:spPr>
          <a:xfrm>
            <a:off x="1371600" y="3749040"/>
            <a:ext cx="29260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71600" y="3822192"/>
            <a:ext cx="2926080" cy="320040"/>
          </a:xfrm>
          <a:prstGeom prst="rect">
            <a:avLst/>
          </a:prstGeom>
          <a:noFill/>
        </p:spPr>
        <p:txBody>
          <a:bodyPr wrap="none">
            <a:spAutoFit/>
          </a:bodyPr>
          <a:lstStyle/>
          <a:p>
            <a:pPr algn="ctr"/>
            <a:r>
              <a:rPr sz="1000">
                <a:solidFill>
                  <a:srgbClr val="F1F5F9"/>
                </a:solidFill>
                <a:latin typeface="JetBrains Mono"/>
              </a:rPr>
              <a:t>restart:orders-db</a:t>
            </a:r>
          </a:p>
        </p:txBody>
      </p:sp>
      <p:sp>
        <p:nvSpPr>
          <p:cNvPr id="29" name="Rectangle 28"/>
          <p:cNvSpPr/>
          <p:nvPr/>
        </p:nvSpPr>
        <p:spPr>
          <a:xfrm>
            <a:off x="4297680" y="3749040"/>
            <a:ext cx="10972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97680" y="3822192"/>
            <a:ext cx="1097280" cy="320040"/>
          </a:xfrm>
          <a:prstGeom prst="rect">
            <a:avLst/>
          </a:prstGeom>
          <a:noFill/>
        </p:spPr>
        <p:txBody>
          <a:bodyPr wrap="none">
            <a:spAutoFit/>
          </a:bodyPr>
          <a:lstStyle/>
          <a:p>
            <a:pPr algn="ctr"/>
            <a:r>
              <a:rPr sz="1000">
                <a:solidFill>
                  <a:srgbClr val="F1F5F9"/>
                </a:solidFill>
                <a:latin typeface="JetBrains Mono"/>
              </a:rPr>
              <a:t>0%</a:t>
            </a:r>
          </a:p>
        </p:txBody>
      </p:sp>
      <p:sp>
        <p:nvSpPr>
          <p:cNvPr id="31" name="Rectangle 30"/>
          <p:cNvSpPr/>
          <p:nvPr/>
        </p:nvSpPr>
        <p:spPr>
          <a:xfrm>
            <a:off x="5394960" y="3749040"/>
            <a:ext cx="10972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0" y="3822192"/>
            <a:ext cx="1097280" cy="320040"/>
          </a:xfrm>
          <a:prstGeom prst="rect">
            <a:avLst/>
          </a:prstGeom>
          <a:noFill/>
        </p:spPr>
        <p:txBody>
          <a:bodyPr wrap="none">
            <a:spAutoFit/>
          </a:bodyPr>
          <a:lstStyle/>
          <a:p>
            <a:pPr algn="ctr"/>
            <a:r>
              <a:rPr sz="1000">
                <a:solidFill>
                  <a:srgbClr val="F1F5F9"/>
                </a:solidFill>
                <a:latin typeface="JetBrains Mono"/>
              </a:rPr>
              <a:t>3.0</a:t>
            </a:r>
          </a:p>
        </p:txBody>
      </p:sp>
      <p:sp>
        <p:nvSpPr>
          <p:cNvPr id="33" name="Rectangle 32"/>
          <p:cNvSpPr/>
          <p:nvPr/>
        </p:nvSpPr>
        <p:spPr>
          <a:xfrm>
            <a:off x="6492240" y="3749040"/>
            <a:ext cx="10972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3822192"/>
            <a:ext cx="1097280" cy="320040"/>
          </a:xfrm>
          <a:prstGeom prst="rect">
            <a:avLst/>
          </a:prstGeom>
          <a:noFill/>
        </p:spPr>
        <p:txBody>
          <a:bodyPr wrap="none">
            <a:spAutoFit/>
          </a:bodyPr>
          <a:lstStyle/>
          <a:p>
            <a:pPr algn="ctr"/>
            <a:r>
              <a:rPr sz="1000">
                <a:solidFill>
                  <a:srgbClr val="F1F5F9"/>
                </a:solidFill>
                <a:latin typeface="JetBrains Mono"/>
              </a:rPr>
              <a:t>12m</a:t>
            </a:r>
          </a:p>
        </p:txBody>
      </p:sp>
      <p:sp>
        <p:nvSpPr>
          <p:cNvPr id="35" name="Rectangle 34"/>
          <p:cNvSpPr/>
          <p:nvPr/>
        </p:nvSpPr>
        <p:spPr>
          <a:xfrm>
            <a:off x="7589520" y="3749040"/>
            <a:ext cx="73152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9520" y="3822192"/>
            <a:ext cx="731520" cy="320040"/>
          </a:xfrm>
          <a:prstGeom prst="rect">
            <a:avLst/>
          </a:prstGeom>
          <a:noFill/>
        </p:spPr>
        <p:txBody>
          <a:bodyPr wrap="none">
            <a:spAutoFit/>
          </a:bodyPr>
          <a:lstStyle/>
          <a:p>
            <a:pPr algn="ctr"/>
            <a:r>
              <a:rPr sz="1000">
                <a:solidFill>
                  <a:srgbClr val="F1F5F9"/>
                </a:solidFill>
                <a:latin typeface="JetBrains Mono"/>
              </a:rPr>
              <a:t>35</a:t>
            </a:r>
          </a:p>
        </p:txBody>
      </p:sp>
      <p:sp>
        <p:nvSpPr>
          <p:cNvPr id="37" name="Rectangle 36"/>
          <p:cNvSpPr/>
          <p:nvPr/>
        </p:nvSpPr>
        <p:spPr>
          <a:xfrm>
            <a:off x="8321040" y="3749040"/>
            <a:ext cx="182880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3822192"/>
            <a:ext cx="1828800" cy="320040"/>
          </a:xfrm>
          <a:prstGeom prst="rect">
            <a:avLst/>
          </a:prstGeom>
          <a:noFill/>
        </p:spPr>
        <p:txBody>
          <a:bodyPr wrap="none">
            <a:spAutoFit/>
          </a:bodyPr>
          <a:lstStyle/>
          <a:p>
            <a:pPr algn="ctr"/>
            <a:r>
              <a:rPr sz="1000">
                <a:solidFill>
                  <a:srgbClr val="F1F5F9"/>
                </a:solidFill>
                <a:latin typeface="JetBrains Mono"/>
              </a:rPr>
              <a:t>not-recommended</a:t>
            </a:r>
          </a:p>
        </p:txBody>
      </p:sp>
      <p:sp>
        <p:nvSpPr>
          <p:cNvPr id="39" name="Rectangle 38"/>
          <p:cNvSpPr/>
          <p:nvPr/>
        </p:nvSpPr>
        <p:spPr>
          <a:xfrm>
            <a:off x="1371600" y="4251960"/>
            <a:ext cx="29260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71600" y="4325112"/>
            <a:ext cx="2926080" cy="320040"/>
          </a:xfrm>
          <a:prstGeom prst="rect">
            <a:avLst/>
          </a:prstGeom>
          <a:noFill/>
        </p:spPr>
        <p:txBody>
          <a:bodyPr wrap="none">
            <a:spAutoFit/>
          </a:bodyPr>
          <a:lstStyle/>
          <a:p>
            <a:pPr algn="ctr"/>
            <a:r>
              <a:rPr sz="1000">
                <a:solidFill>
                  <a:srgbClr val="F1F5F9"/>
                </a:solidFill>
                <a:latin typeface="JetBrains Mono"/>
              </a:rPr>
              <a:t>circuit-breaker:orders-db</a:t>
            </a:r>
          </a:p>
        </p:txBody>
      </p:sp>
      <p:sp>
        <p:nvSpPr>
          <p:cNvPr id="41" name="Rectangle 40"/>
          <p:cNvSpPr/>
          <p:nvPr/>
        </p:nvSpPr>
        <p:spPr>
          <a:xfrm>
            <a:off x="4297680" y="4251960"/>
            <a:ext cx="10972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80" y="4325112"/>
            <a:ext cx="1097280" cy="320040"/>
          </a:xfrm>
          <a:prstGeom prst="rect">
            <a:avLst/>
          </a:prstGeom>
          <a:noFill/>
        </p:spPr>
        <p:txBody>
          <a:bodyPr wrap="none">
            <a:spAutoFit/>
          </a:bodyPr>
          <a:lstStyle/>
          <a:p>
            <a:pPr algn="ctr"/>
            <a:r>
              <a:rPr sz="1000">
                <a:solidFill>
                  <a:srgbClr val="F1F5F9"/>
                </a:solidFill>
                <a:latin typeface="JetBrains Mono"/>
              </a:rPr>
              <a:t>0%</a:t>
            </a:r>
          </a:p>
        </p:txBody>
      </p:sp>
      <p:sp>
        <p:nvSpPr>
          <p:cNvPr id="43" name="Rectangle 42"/>
          <p:cNvSpPr/>
          <p:nvPr/>
        </p:nvSpPr>
        <p:spPr>
          <a:xfrm>
            <a:off x="5394960" y="4251960"/>
            <a:ext cx="10972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0" y="4325112"/>
            <a:ext cx="1097280" cy="320040"/>
          </a:xfrm>
          <a:prstGeom prst="rect">
            <a:avLst/>
          </a:prstGeom>
          <a:noFill/>
        </p:spPr>
        <p:txBody>
          <a:bodyPr wrap="none">
            <a:spAutoFit/>
          </a:bodyPr>
          <a:lstStyle/>
          <a:p>
            <a:pPr algn="ctr"/>
            <a:r>
              <a:rPr sz="1000">
                <a:solidFill>
                  <a:srgbClr val="F1F5F9"/>
                </a:solidFill>
                <a:latin typeface="JetBrains Mono"/>
              </a:rPr>
              <a:t>2.6</a:t>
            </a:r>
          </a:p>
        </p:txBody>
      </p:sp>
      <p:sp>
        <p:nvSpPr>
          <p:cNvPr id="45" name="Rectangle 44"/>
          <p:cNvSpPr/>
          <p:nvPr/>
        </p:nvSpPr>
        <p:spPr>
          <a:xfrm>
            <a:off x="6492240" y="4251960"/>
            <a:ext cx="109728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92240" y="4325112"/>
            <a:ext cx="1097280" cy="320040"/>
          </a:xfrm>
          <a:prstGeom prst="rect">
            <a:avLst/>
          </a:prstGeom>
          <a:noFill/>
        </p:spPr>
        <p:txBody>
          <a:bodyPr wrap="none">
            <a:spAutoFit/>
          </a:bodyPr>
          <a:lstStyle/>
          <a:p>
            <a:pPr algn="ctr"/>
            <a:r>
              <a:rPr sz="1000">
                <a:solidFill>
                  <a:srgbClr val="F1F5F9"/>
                </a:solidFill>
                <a:latin typeface="JetBrains Mono"/>
              </a:rPr>
              <a:t>12m</a:t>
            </a:r>
          </a:p>
        </p:txBody>
      </p:sp>
      <p:sp>
        <p:nvSpPr>
          <p:cNvPr id="47" name="Rectangle 46"/>
          <p:cNvSpPr/>
          <p:nvPr/>
        </p:nvSpPr>
        <p:spPr>
          <a:xfrm>
            <a:off x="7589520" y="4251960"/>
            <a:ext cx="73152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0" y="4325112"/>
            <a:ext cx="731520" cy="320040"/>
          </a:xfrm>
          <a:prstGeom prst="rect">
            <a:avLst/>
          </a:prstGeom>
          <a:noFill/>
        </p:spPr>
        <p:txBody>
          <a:bodyPr wrap="none">
            <a:spAutoFit/>
          </a:bodyPr>
          <a:lstStyle/>
          <a:p>
            <a:pPr algn="ctr"/>
            <a:r>
              <a:rPr sz="1000">
                <a:solidFill>
                  <a:srgbClr val="F1F5F9"/>
                </a:solidFill>
                <a:latin typeface="JetBrains Mono"/>
              </a:rPr>
              <a:t>30</a:t>
            </a:r>
          </a:p>
        </p:txBody>
      </p:sp>
      <p:sp>
        <p:nvSpPr>
          <p:cNvPr id="49" name="Rectangle 48"/>
          <p:cNvSpPr/>
          <p:nvPr/>
        </p:nvSpPr>
        <p:spPr>
          <a:xfrm>
            <a:off x="8321040" y="4251960"/>
            <a:ext cx="1828800" cy="457200"/>
          </a:xfrm>
          <a:prstGeom prst="rect">
            <a:avLst/>
          </a:prstGeom>
          <a:solidFill>
            <a:srgbClr val="11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1040" y="4325112"/>
            <a:ext cx="1828800" cy="320040"/>
          </a:xfrm>
          <a:prstGeom prst="rect">
            <a:avLst/>
          </a:prstGeom>
          <a:noFill/>
        </p:spPr>
        <p:txBody>
          <a:bodyPr wrap="none">
            <a:spAutoFit/>
          </a:bodyPr>
          <a:lstStyle/>
          <a:p>
            <a:pPr algn="ctr"/>
            <a:r>
              <a:rPr sz="1000">
                <a:solidFill>
                  <a:srgbClr val="F1F5F9"/>
                </a:solidFill>
                <a:latin typeface="JetBrains Mono"/>
              </a:rPr>
              <a:t>not-recommended</a:t>
            </a:r>
          </a:p>
        </p:txBody>
      </p:sp>
      <p:sp>
        <p:nvSpPr>
          <p:cNvPr id="51" name="Rectangle 50"/>
          <p:cNvSpPr/>
          <p:nvPr/>
        </p:nvSpPr>
        <p:spPr>
          <a:xfrm>
            <a:off x="1371600" y="4754880"/>
            <a:ext cx="29260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371600" y="4828032"/>
            <a:ext cx="2926080" cy="320040"/>
          </a:xfrm>
          <a:prstGeom prst="rect">
            <a:avLst/>
          </a:prstGeom>
          <a:noFill/>
        </p:spPr>
        <p:txBody>
          <a:bodyPr wrap="none">
            <a:spAutoFit/>
          </a:bodyPr>
          <a:lstStyle/>
          <a:p>
            <a:pPr algn="ctr"/>
            <a:r>
              <a:rPr sz="1000">
                <a:solidFill>
                  <a:srgbClr val="F1F5F9"/>
                </a:solidFill>
                <a:latin typeface="JetBrains Mono"/>
              </a:rPr>
              <a:t>no-action</a:t>
            </a:r>
          </a:p>
        </p:txBody>
      </p:sp>
      <p:sp>
        <p:nvSpPr>
          <p:cNvPr id="53" name="Rectangle 52"/>
          <p:cNvSpPr/>
          <p:nvPr/>
        </p:nvSpPr>
        <p:spPr>
          <a:xfrm>
            <a:off x="4297680" y="4754880"/>
            <a:ext cx="10972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97680" y="4828032"/>
            <a:ext cx="1097280" cy="320040"/>
          </a:xfrm>
          <a:prstGeom prst="rect">
            <a:avLst/>
          </a:prstGeom>
          <a:noFill/>
        </p:spPr>
        <p:txBody>
          <a:bodyPr wrap="none">
            <a:spAutoFit/>
          </a:bodyPr>
          <a:lstStyle/>
          <a:p>
            <a:pPr algn="ctr"/>
            <a:r>
              <a:rPr sz="1000">
                <a:solidFill>
                  <a:srgbClr val="F1F5F9"/>
                </a:solidFill>
                <a:latin typeface="JetBrains Mono"/>
              </a:rPr>
              <a:t>0%</a:t>
            </a:r>
          </a:p>
        </p:txBody>
      </p:sp>
      <p:sp>
        <p:nvSpPr>
          <p:cNvPr id="55" name="Rectangle 54"/>
          <p:cNvSpPr/>
          <p:nvPr/>
        </p:nvSpPr>
        <p:spPr>
          <a:xfrm>
            <a:off x="5394960" y="4754880"/>
            <a:ext cx="10972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94960" y="4828032"/>
            <a:ext cx="1097280" cy="320040"/>
          </a:xfrm>
          <a:prstGeom prst="rect">
            <a:avLst/>
          </a:prstGeom>
          <a:noFill/>
        </p:spPr>
        <p:txBody>
          <a:bodyPr wrap="none">
            <a:spAutoFit/>
          </a:bodyPr>
          <a:lstStyle/>
          <a:p>
            <a:pPr algn="ctr"/>
            <a:r>
              <a:rPr sz="1000">
                <a:solidFill>
                  <a:srgbClr val="F1F5F9"/>
                </a:solidFill>
                <a:latin typeface="JetBrains Mono"/>
              </a:rPr>
              <a:t>3.5</a:t>
            </a:r>
          </a:p>
        </p:txBody>
      </p:sp>
      <p:sp>
        <p:nvSpPr>
          <p:cNvPr id="57" name="Rectangle 56"/>
          <p:cNvSpPr/>
          <p:nvPr/>
        </p:nvSpPr>
        <p:spPr>
          <a:xfrm>
            <a:off x="6492240" y="4754880"/>
            <a:ext cx="109728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92240" y="4828032"/>
            <a:ext cx="1097280" cy="320040"/>
          </a:xfrm>
          <a:prstGeom prst="rect">
            <a:avLst/>
          </a:prstGeom>
          <a:noFill/>
        </p:spPr>
        <p:txBody>
          <a:bodyPr wrap="none">
            <a:spAutoFit/>
          </a:bodyPr>
          <a:lstStyle/>
          <a:p>
            <a:pPr algn="ctr"/>
            <a:r>
              <a:rPr sz="1000">
                <a:solidFill>
                  <a:srgbClr val="F1F5F9"/>
                </a:solidFill>
                <a:latin typeface="JetBrains Mono"/>
              </a:rPr>
              <a:t>12m</a:t>
            </a:r>
          </a:p>
        </p:txBody>
      </p:sp>
      <p:sp>
        <p:nvSpPr>
          <p:cNvPr id="59" name="Rectangle 58"/>
          <p:cNvSpPr/>
          <p:nvPr/>
        </p:nvSpPr>
        <p:spPr>
          <a:xfrm>
            <a:off x="7589520" y="4754880"/>
            <a:ext cx="73152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589520" y="4828032"/>
            <a:ext cx="731520" cy="320040"/>
          </a:xfrm>
          <a:prstGeom prst="rect">
            <a:avLst/>
          </a:prstGeom>
          <a:noFill/>
        </p:spPr>
        <p:txBody>
          <a:bodyPr wrap="none">
            <a:spAutoFit/>
          </a:bodyPr>
          <a:lstStyle/>
          <a:p>
            <a:pPr algn="ctr"/>
            <a:r>
              <a:rPr sz="1000">
                <a:solidFill>
                  <a:srgbClr val="F1F5F9"/>
                </a:solidFill>
                <a:latin typeface="JetBrains Mono"/>
              </a:rPr>
              <a:t>0</a:t>
            </a:r>
          </a:p>
        </p:txBody>
      </p:sp>
      <p:sp>
        <p:nvSpPr>
          <p:cNvPr id="61" name="Rectangle 60"/>
          <p:cNvSpPr/>
          <p:nvPr/>
        </p:nvSpPr>
        <p:spPr>
          <a:xfrm>
            <a:off x="8321040" y="4754880"/>
            <a:ext cx="1828800" cy="45720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21040" y="4828032"/>
            <a:ext cx="1828800" cy="320040"/>
          </a:xfrm>
          <a:prstGeom prst="rect">
            <a:avLst/>
          </a:prstGeom>
          <a:noFill/>
        </p:spPr>
        <p:txBody>
          <a:bodyPr wrap="none">
            <a:spAutoFit/>
          </a:bodyPr>
          <a:lstStyle/>
          <a:p>
            <a:pPr algn="ctr"/>
            <a:r>
              <a:rPr sz="1000">
                <a:solidFill>
                  <a:srgbClr val="F1F5F9"/>
                </a:solidFill>
                <a:latin typeface="JetBrains Mono"/>
              </a:rPr>
              <a:t>not-recommended</a:t>
            </a:r>
          </a:p>
        </p:txBody>
      </p:sp>
      <p:sp>
        <p:nvSpPr>
          <p:cNvPr id="63" name="TextBox 62"/>
          <p:cNvSpPr txBox="1"/>
          <p:nvPr/>
        </p:nvSpPr>
        <p:spPr>
          <a:xfrm>
            <a:off x="502920" y="5486400"/>
            <a:ext cx="10515600" cy="731520"/>
          </a:xfrm>
          <a:prstGeom prst="rect">
            <a:avLst/>
          </a:prstGeom>
          <a:noFill/>
        </p:spPr>
        <p:txBody>
          <a:bodyPr wrap="square">
            <a:spAutoFit/>
          </a:bodyPr>
          <a:lstStyle/>
          <a:p>
            <a:pPr algn="l"/>
            <a:r>
              <a:rPr sz="1300" b="0">
                <a:solidFill>
                  <a:srgbClr val="94A3B8"/>
                </a:solidFill>
                <a:latin typeface="Inter"/>
              </a:rPr>
              <a:t>Every strategy is replayed against the same 30 random seeds (common random numbers) — the measured lift is attributable to the action, not sampling noise. A strategy is 'recommended' only if it beats the no-action baseline.</a:t>
            </a:r>
          </a:p>
        </p:txBody>
      </p:sp>
      <p:sp>
        <p:nvSpPr>
          <p:cNvPr id="64" name="Rectangle 63"/>
          <p:cNvSpPr/>
          <p:nvPr/>
        </p:nvSpPr>
        <p:spPr>
          <a:xfrm>
            <a:off x="502920" y="6446520"/>
            <a:ext cx="11155680"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2920" y="6537960"/>
            <a:ext cx="6400800" cy="274320"/>
          </a:xfrm>
          <a:prstGeom prst="rect">
            <a:avLst/>
          </a:prstGeom>
          <a:noFill/>
        </p:spPr>
        <p:txBody>
          <a:bodyPr wrap="square">
            <a:spAutoFit/>
          </a:bodyPr>
          <a:lstStyle/>
          <a:p>
            <a:pPr algn="l"/>
            <a:r>
              <a:rPr sz="900" b="0">
                <a:solidFill>
                  <a:srgbClr val="64748B"/>
                </a:solidFill>
                <a:latin typeface="Inter"/>
              </a:rPr>
              <a:t>ORCATHON 2026 · TRACK 01 SOFTWARE &amp; 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502920" y="320040"/>
            <a:ext cx="11155680" cy="640080"/>
          </a:xfrm>
          <a:prstGeom prst="rect">
            <a:avLst/>
          </a:prstGeom>
          <a:noFill/>
        </p:spPr>
        <p:txBody>
          <a:bodyPr wrap="square">
            <a:spAutoFit/>
          </a:bodyPr>
          <a:lstStyle/>
          <a:p>
            <a:pPr algn="l"/>
            <a:r>
              <a:rPr sz="1800" b="1">
                <a:solidFill>
                  <a:srgbClr val="38BDF8"/>
                </a:solidFill>
                <a:latin typeface="Inter"/>
              </a:rPr>
              <a:t>05  BUSINESS IMPACT  ·  SLO metrics, not just service names</a:t>
            </a:r>
          </a:p>
        </p:txBody>
      </p:sp>
      <p:sp>
        <p:nvSpPr>
          <p:cNvPr id="3" name="Rectangle 2"/>
          <p:cNvSpPr/>
          <p:nvPr/>
        </p:nvSpPr>
        <p:spPr>
          <a:xfrm>
            <a:off x="914400" y="2560320"/>
            <a:ext cx="329184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743200"/>
            <a:ext cx="2926080" cy="365760"/>
          </a:xfrm>
          <a:prstGeom prst="rect">
            <a:avLst/>
          </a:prstGeom>
          <a:noFill/>
        </p:spPr>
        <p:txBody>
          <a:bodyPr wrap="square">
            <a:spAutoFit/>
          </a:bodyPr>
          <a:lstStyle/>
          <a:p>
            <a:pPr algn="l"/>
            <a:r>
              <a:rPr sz="1300" b="1">
                <a:solidFill>
                  <a:srgbClr val="38BDF8"/>
                </a:solidFill>
                <a:latin typeface="Inter"/>
              </a:rPr>
              <a:t>SLO Burn Rate</a:t>
            </a:r>
          </a:p>
        </p:txBody>
      </p:sp>
      <p:sp>
        <p:nvSpPr>
          <p:cNvPr id="5" name="TextBox 4"/>
          <p:cNvSpPr txBox="1"/>
          <p:nvPr/>
        </p:nvSpPr>
        <p:spPr>
          <a:xfrm>
            <a:off x="1097280" y="3200400"/>
            <a:ext cx="2926080" cy="914400"/>
          </a:xfrm>
          <a:prstGeom prst="rect">
            <a:avLst/>
          </a:prstGeom>
          <a:noFill/>
        </p:spPr>
        <p:txBody>
          <a:bodyPr wrap="square">
            <a:spAutoFit/>
          </a:bodyPr>
          <a:lstStyle/>
          <a:p>
            <a:pPr algn="l"/>
            <a:r>
              <a:rPr sz="4800" b="1">
                <a:solidFill>
                  <a:srgbClr val="F1F5F9"/>
                </a:solidFill>
                <a:latin typeface="Inter"/>
              </a:rPr>
              <a:t>11.37×</a:t>
            </a:r>
          </a:p>
        </p:txBody>
      </p:sp>
      <p:sp>
        <p:nvSpPr>
          <p:cNvPr id="6" name="TextBox 5"/>
          <p:cNvSpPr txBox="1"/>
          <p:nvPr/>
        </p:nvSpPr>
        <p:spPr>
          <a:xfrm>
            <a:off x="1097280" y="4297680"/>
            <a:ext cx="2926080" cy="640080"/>
          </a:xfrm>
          <a:prstGeom prst="rect">
            <a:avLst/>
          </a:prstGeom>
          <a:noFill/>
        </p:spPr>
        <p:txBody>
          <a:bodyPr wrap="square">
            <a:spAutoFit/>
          </a:bodyPr>
          <a:lstStyle/>
          <a:p>
            <a:pPr algn="l"/>
            <a:r>
              <a:rPr sz="1100" b="0">
                <a:solidFill>
                  <a:srgbClr val="94A3B8"/>
                </a:solidFill>
                <a:latin typeface="Inter"/>
              </a:rPr>
              <a:t>Critical threshold exceeded; rapid budget depletion</a:t>
            </a:r>
          </a:p>
        </p:txBody>
      </p:sp>
      <p:sp>
        <p:nvSpPr>
          <p:cNvPr id="7" name="Rectangle 6"/>
          <p:cNvSpPr/>
          <p:nvPr/>
        </p:nvSpPr>
        <p:spPr>
          <a:xfrm>
            <a:off x="4572000" y="2560320"/>
            <a:ext cx="329184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2743200"/>
            <a:ext cx="2926080" cy="365760"/>
          </a:xfrm>
          <a:prstGeom prst="rect">
            <a:avLst/>
          </a:prstGeom>
          <a:noFill/>
        </p:spPr>
        <p:txBody>
          <a:bodyPr wrap="square">
            <a:spAutoFit/>
          </a:bodyPr>
          <a:lstStyle/>
          <a:p>
            <a:pPr algn="l"/>
            <a:r>
              <a:rPr sz="1300" b="1">
                <a:solidFill>
                  <a:srgbClr val="38BDF8"/>
                </a:solidFill>
                <a:latin typeface="Inter"/>
              </a:rPr>
              <a:t>User Flow Degraded</a:t>
            </a:r>
          </a:p>
        </p:txBody>
      </p:sp>
      <p:sp>
        <p:nvSpPr>
          <p:cNvPr id="9" name="TextBox 8"/>
          <p:cNvSpPr txBox="1"/>
          <p:nvPr/>
        </p:nvSpPr>
        <p:spPr>
          <a:xfrm>
            <a:off x="4754880" y="3200400"/>
            <a:ext cx="2926080" cy="914400"/>
          </a:xfrm>
          <a:prstGeom prst="rect">
            <a:avLst/>
          </a:prstGeom>
          <a:noFill/>
        </p:spPr>
        <p:txBody>
          <a:bodyPr wrap="square">
            <a:spAutoFit/>
          </a:bodyPr>
          <a:lstStyle/>
          <a:p>
            <a:pPr algn="l"/>
            <a:r>
              <a:rPr sz="4800" b="1">
                <a:solidFill>
                  <a:srgbClr val="F1F5F9"/>
                </a:solidFill>
                <a:latin typeface="Inter"/>
              </a:rPr>
              <a:t>100%</a:t>
            </a:r>
          </a:p>
        </p:txBody>
      </p:sp>
      <p:sp>
        <p:nvSpPr>
          <p:cNvPr id="10" name="TextBox 9"/>
          <p:cNvSpPr txBox="1"/>
          <p:nvPr/>
        </p:nvSpPr>
        <p:spPr>
          <a:xfrm>
            <a:off x="4754880" y="4297680"/>
            <a:ext cx="2926080" cy="640080"/>
          </a:xfrm>
          <a:prstGeom prst="rect">
            <a:avLst/>
          </a:prstGeom>
          <a:noFill/>
        </p:spPr>
        <p:txBody>
          <a:bodyPr wrap="square">
            <a:spAutoFit/>
          </a:bodyPr>
          <a:lstStyle/>
          <a:p>
            <a:pPr algn="l"/>
            <a:r>
              <a:rPr sz="1100" b="0">
                <a:solidFill>
                  <a:srgbClr val="94A3B8"/>
                </a:solidFill>
                <a:latin typeface="Inter"/>
              </a:rPr>
              <a:t>All critical user journeys affected by the cascade</a:t>
            </a:r>
          </a:p>
        </p:txBody>
      </p:sp>
      <p:sp>
        <p:nvSpPr>
          <p:cNvPr id="11" name="Rectangle 10"/>
          <p:cNvSpPr/>
          <p:nvPr/>
        </p:nvSpPr>
        <p:spPr>
          <a:xfrm>
            <a:off x="8229600" y="2560320"/>
            <a:ext cx="329184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743200"/>
            <a:ext cx="2926080" cy="365760"/>
          </a:xfrm>
          <a:prstGeom prst="rect">
            <a:avLst/>
          </a:prstGeom>
          <a:noFill/>
        </p:spPr>
        <p:txBody>
          <a:bodyPr wrap="square">
            <a:spAutoFit/>
          </a:bodyPr>
          <a:lstStyle/>
          <a:p>
            <a:pPr algn="l"/>
            <a:r>
              <a:rPr sz="1300" b="1">
                <a:solidFill>
                  <a:srgbClr val="38BDF8"/>
                </a:solidFill>
                <a:latin typeface="Inter"/>
              </a:rPr>
              <a:t>Revenue at Risk</a:t>
            </a:r>
          </a:p>
        </p:txBody>
      </p:sp>
      <p:sp>
        <p:nvSpPr>
          <p:cNvPr id="13" name="TextBox 12"/>
          <p:cNvSpPr txBox="1"/>
          <p:nvPr/>
        </p:nvSpPr>
        <p:spPr>
          <a:xfrm>
            <a:off x="8412480" y="3200400"/>
            <a:ext cx="2926080" cy="914400"/>
          </a:xfrm>
          <a:prstGeom prst="rect">
            <a:avLst/>
          </a:prstGeom>
          <a:noFill/>
        </p:spPr>
        <p:txBody>
          <a:bodyPr wrap="square">
            <a:spAutoFit/>
          </a:bodyPr>
          <a:lstStyle/>
          <a:p>
            <a:pPr algn="l"/>
            <a:r>
              <a:rPr sz="4800" b="1">
                <a:solidFill>
                  <a:srgbClr val="F1F5F9"/>
                </a:solidFill>
                <a:latin typeface="Inter"/>
              </a:rPr>
              <a:t>$34.2k/min</a:t>
            </a:r>
          </a:p>
        </p:txBody>
      </p:sp>
      <p:sp>
        <p:nvSpPr>
          <p:cNvPr id="14" name="TextBox 13"/>
          <p:cNvSpPr txBox="1"/>
          <p:nvPr/>
        </p:nvSpPr>
        <p:spPr>
          <a:xfrm>
            <a:off x="8412480" y="4297680"/>
            <a:ext cx="2926080" cy="640080"/>
          </a:xfrm>
          <a:prstGeom prst="rect">
            <a:avLst/>
          </a:prstGeom>
          <a:noFill/>
        </p:spPr>
        <p:txBody>
          <a:bodyPr wrap="square">
            <a:spAutoFit/>
          </a:bodyPr>
          <a:lstStyle/>
          <a:p>
            <a:pPr algn="l"/>
            <a:r>
              <a:rPr sz="1100" b="0">
                <a:solidFill>
                  <a:srgbClr val="94A3B8"/>
                </a:solidFill>
                <a:latin typeface="Inter"/>
              </a:rPr>
              <a:t>Estimated loss rate at time of incident opening</a:t>
            </a:r>
          </a:p>
        </p:txBody>
      </p:sp>
      <p:sp>
        <p:nvSpPr>
          <p:cNvPr id="15" name="Rounded Rectangle 14"/>
          <p:cNvSpPr/>
          <p:nvPr/>
        </p:nvSpPr>
        <p:spPr>
          <a:xfrm>
            <a:off x="502920" y="5120640"/>
            <a:ext cx="11155680" cy="1188720"/>
          </a:xfrm>
          <a:prstGeom prst="roundRect">
            <a:avLst>
              <a:gd name="adj" fmla="val 5000"/>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257800"/>
            <a:ext cx="10789920" cy="914400"/>
          </a:xfrm>
          <a:prstGeom prst="rect">
            <a:avLst/>
          </a:prstGeom>
          <a:noFill/>
        </p:spPr>
        <p:txBody>
          <a:bodyPr wrap="square">
            <a:spAutoFit/>
          </a:bodyPr>
          <a:lstStyle/>
          <a:p>
            <a:pPr algn="l"/>
            <a:r>
              <a:rPr sz="1300" b="0">
                <a:solidFill>
                  <a:srgbClr val="94A3B8"/>
                </a:solidFill>
                <a:latin typeface="Inter"/>
              </a:rPr>
              <a:t>The Impact Panel converts telemetry into what a CTO asks about: which services are down, how much of the user journey is degraded, how fast the SLO budget burns, and the revenue at risk per minute. It draws from the engine's live snapshot — no hand-written estimates.</a:t>
            </a:r>
          </a:p>
        </p:txBody>
      </p:sp>
      <p:sp>
        <p:nvSpPr>
          <p:cNvPr id="17" name="Rectangle 16"/>
          <p:cNvSpPr/>
          <p:nvPr/>
        </p:nvSpPr>
        <p:spPr>
          <a:xfrm>
            <a:off x="502920" y="6446520"/>
            <a:ext cx="11155680"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37960"/>
            <a:ext cx="6400800" cy="274320"/>
          </a:xfrm>
          <a:prstGeom prst="rect">
            <a:avLst/>
          </a:prstGeom>
          <a:noFill/>
        </p:spPr>
        <p:txBody>
          <a:bodyPr wrap="square">
            <a:spAutoFit/>
          </a:bodyPr>
          <a:lstStyle/>
          <a:p>
            <a:pPr algn="l"/>
            <a:r>
              <a:rPr sz="900" b="0">
                <a:solidFill>
                  <a:srgbClr val="64748B"/>
                </a:solidFill>
                <a:latin typeface="Inter"/>
              </a:rPr>
              <a:t>ORCATHON 2026 · TRACK 01 SOFTWARE &amp; 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502920" y="320040"/>
            <a:ext cx="11155680" cy="640080"/>
          </a:xfrm>
          <a:prstGeom prst="rect">
            <a:avLst/>
          </a:prstGeom>
          <a:noFill/>
        </p:spPr>
        <p:txBody>
          <a:bodyPr wrap="square">
            <a:spAutoFit/>
          </a:bodyPr>
          <a:lstStyle/>
          <a:p>
            <a:pPr algn="l"/>
            <a:r>
              <a:rPr sz="1800" b="1">
                <a:solidFill>
                  <a:srgbClr val="38BDF8"/>
                </a:solidFill>
                <a:latin typeface="Inter"/>
              </a:rPr>
              <a:t>06  MEASURED BENCHMARKS  ·  Every number regenerated by the engine</a:t>
            </a:r>
          </a:p>
        </p:txBody>
      </p:sp>
      <p:sp>
        <p:nvSpPr>
          <p:cNvPr id="3" name="Rectangle 2"/>
          <p:cNvSpPr/>
          <p:nvPr/>
        </p:nvSpPr>
        <p:spPr>
          <a:xfrm>
            <a:off x="914400" y="2286000"/>
            <a:ext cx="256032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60320"/>
            <a:ext cx="2560320" cy="914400"/>
          </a:xfrm>
          <a:prstGeom prst="rect">
            <a:avLst/>
          </a:prstGeom>
          <a:noFill/>
        </p:spPr>
        <p:txBody>
          <a:bodyPr wrap="square">
            <a:spAutoFit/>
          </a:bodyPr>
          <a:lstStyle/>
          <a:p>
            <a:pPr algn="l"/>
            <a:r>
              <a:rPr sz="4400" b="1">
                <a:solidFill>
                  <a:srgbClr val="38BDF8"/>
                </a:solidFill>
                <a:latin typeface="Inter"/>
              </a:rPr>
              <a:t>75 s</a:t>
            </a:r>
          </a:p>
        </p:txBody>
      </p:sp>
      <p:sp>
        <p:nvSpPr>
          <p:cNvPr id="5" name="TextBox 4"/>
          <p:cNvSpPr txBox="1"/>
          <p:nvPr/>
        </p:nvSpPr>
        <p:spPr>
          <a:xfrm>
            <a:off x="1097280" y="3566160"/>
            <a:ext cx="2194560" cy="914400"/>
          </a:xfrm>
          <a:prstGeom prst="rect">
            <a:avLst/>
          </a:prstGeom>
          <a:noFill/>
        </p:spPr>
        <p:txBody>
          <a:bodyPr wrap="square">
            <a:spAutoFit/>
          </a:bodyPr>
          <a:lstStyle/>
          <a:p>
            <a:pPr algn="ctr"/>
            <a:r>
              <a:rPr sz="1100">
                <a:solidFill>
                  <a:srgbClr val="94A3B8"/>
                </a:solidFill>
                <a:latin typeface="Inter"/>
              </a:rPr>
              <a:t>Average warning lead time
(up to 120 s)</a:t>
            </a:r>
          </a:p>
        </p:txBody>
      </p:sp>
      <p:sp>
        <p:nvSpPr>
          <p:cNvPr id="6" name="Rectangle 5"/>
          <p:cNvSpPr/>
          <p:nvPr/>
        </p:nvSpPr>
        <p:spPr>
          <a:xfrm>
            <a:off x="3657600" y="2286000"/>
            <a:ext cx="256032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0" y="2560320"/>
            <a:ext cx="2560320" cy="914400"/>
          </a:xfrm>
          <a:prstGeom prst="rect">
            <a:avLst/>
          </a:prstGeom>
          <a:noFill/>
        </p:spPr>
        <p:txBody>
          <a:bodyPr wrap="square">
            <a:spAutoFit/>
          </a:bodyPr>
          <a:lstStyle/>
          <a:p>
            <a:pPr algn="l"/>
            <a:r>
              <a:rPr sz="4400" b="1">
                <a:solidFill>
                  <a:srgbClr val="38BDF8"/>
                </a:solidFill>
                <a:latin typeface="Inter"/>
              </a:rPr>
              <a:t>100%</a:t>
            </a:r>
          </a:p>
        </p:txBody>
      </p:sp>
      <p:sp>
        <p:nvSpPr>
          <p:cNvPr id="8" name="TextBox 7"/>
          <p:cNvSpPr txBox="1"/>
          <p:nvPr/>
        </p:nvSpPr>
        <p:spPr>
          <a:xfrm>
            <a:off x="3840480" y="3566160"/>
            <a:ext cx="2194560" cy="914400"/>
          </a:xfrm>
          <a:prstGeom prst="rect">
            <a:avLst/>
          </a:prstGeom>
          <a:noFill/>
        </p:spPr>
        <p:txBody>
          <a:bodyPr wrap="square">
            <a:spAutoFit/>
          </a:bodyPr>
          <a:lstStyle/>
          <a:p>
            <a:pPr algn="ctr"/>
            <a:r>
              <a:rPr sz="1100">
                <a:solidFill>
                  <a:srgbClr val="94A3B8"/>
                </a:solidFill>
                <a:latin typeface="Inter"/>
              </a:rPr>
              <a:t>Root-cause origin accuracy
(4 / 4 scenarios)</a:t>
            </a:r>
          </a:p>
        </p:txBody>
      </p:sp>
      <p:sp>
        <p:nvSpPr>
          <p:cNvPr id="9" name="Rectangle 8"/>
          <p:cNvSpPr/>
          <p:nvPr/>
        </p:nvSpPr>
        <p:spPr>
          <a:xfrm>
            <a:off x="6400800" y="2286000"/>
            <a:ext cx="256032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560320" cy="914400"/>
          </a:xfrm>
          <a:prstGeom prst="rect">
            <a:avLst/>
          </a:prstGeom>
          <a:noFill/>
        </p:spPr>
        <p:txBody>
          <a:bodyPr wrap="square">
            <a:spAutoFit/>
          </a:bodyPr>
          <a:lstStyle/>
          <a:p>
            <a:pPr algn="l"/>
            <a:r>
              <a:rPr sz="4400" b="1">
                <a:solidFill>
                  <a:srgbClr val="38BDF8"/>
                </a:solidFill>
                <a:latin typeface="Inter"/>
              </a:rPr>
              <a:t>100%</a:t>
            </a:r>
          </a:p>
        </p:txBody>
      </p:sp>
      <p:sp>
        <p:nvSpPr>
          <p:cNvPr id="11" name="TextBox 10"/>
          <p:cNvSpPr txBox="1"/>
          <p:nvPr/>
        </p:nvSpPr>
        <p:spPr>
          <a:xfrm>
            <a:off x="6583680" y="3566160"/>
            <a:ext cx="2194560" cy="914400"/>
          </a:xfrm>
          <a:prstGeom prst="rect">
            <a:avLst/>
          </a:prstGeom>
          <a:noFill/>
        </p:spPr>
        <p:txBody>
          <a:bodyPr wrap="square">
            <a:spAutoFit/>
          </a:bodyPr>
          <a:lstStyle/>
          <a:p>
            <a:pPr algn="ctr"/>
            <a:r>
              <a:rPr sz="1100">
                <a:solidFill>
                  <a:srgbClr val="94A3B8"/>
                </a:solidFill>
                <a:latin typeface="Inter"/>
              </a:rPr>
              <a:t>Recall — failures caught
0 missed</a:t>
            </a:r>
          </a:p>
        </p:txBody>
      </p:sp>
      <p:sp>
        <p:nvSpPr>
          <p:cNvPr id="12" name="Rectangle 11"/>
          <p:cNvSpPr/>
          <p:nvPr/>
        </p:nvSpPr>
        <p:spPr>
          <a:xfrm>
            <a:off x="9144000" y="2286000"/>
            <a:ext cx="2560320" cy="2377440"/>
          </a:xfrm>
          <a:prstGeom prst="rect">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0" y="2560320"/>
            <a:ext cx="2560320" cy="914400"/>
          </a:xfrm>
          <a:prstGeom prst="rect">
            <a:avLst/>
          </a:prstGeom>
          <a:noFill/>
        </p:spPr>
        <p:txBody>
          <a:bodyPr wrap="square">
            <a:spAutoFit/>
          </a:bodyPr>
          <a:lstStyle/>
          <a:p>
            <a:pPr algn="l"/>
            <a:r>
              <a:rPr sz="4400" b="1">
                <a:solidFill>
                  <a:srgbClr val="38BDF8"/>
                </a:solidFill>
                <a:latin typeface="Inter"/>
              </a:rPr>
              <a:t>75%</a:t>
            </a:r>
          </a:p>
        </p:txBody>
      </p:sp>
      <p:sp>
        <p:nvSpPr>
          <p:cNvPr id="14" name="TextBox 13"/>
          <p:cNvSpPr txBox="1"/>
          <p:nvPr/>
        </p:nvSpPr>
        <p:spPr>
          <a:xfrm>
            <a:off x="9326880" y="3566160"/>
            <a:ext cx="2194560" cy="914400"/>
          </a:xfrm>
          <a:prstGeom prst="rect">
            <a:avLst/>
          </a:prstGeom>
          <a:noFill/>
        </p:spPr>
        <p:txBody>
          <a:bodyPr wrap="square">
            <a:spAutoFit/>
          </a:bodyPr>
          <a:lstStyle/>
          <a:p>
            <a:pPr algn="ctr"/>
            <a:r>
              <a:rPr sz="1100">
                <a:solidFill>
                  <a:srgbClr val="94A3B8"/>
                </a:solidFill>
                <a:latin typeface="Inter"/>
              </a:rPr>
              <a:t>Precision (honest: 2 false
alarms out of 8 predictions)</a:t>
            </a:r>
          </a:p>
        </p:txBody>
      </p:sp>
      <p:sp>
        <p:nvSpPr>
          <p:cNvPr id="15" name="Rounded Rectangle 14"/>
          <p:cNvSpPr/>
          <p:nvPr/>
        </p:nvSpPr>
        <p:spPr>
          <a:xfrm>
            <a:off x="502920" y="4937760"/>
            <a:ext cx="11155680" cy="914400"/>
          </a:xfrm>
          <a:prstGeom prst="roundRect">
            <a:avLst>
              <a:gd name="adj" fmla="val 5000"/>
            </a:avLst>
          </a:prstGeom>
          <a:solidFill>
            <a:srgbClr val="0F12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29200"/>
            <a:ext cx="10789920" cy="731520"/>
          </a:xfrm>
          <a:prstGeom prst="rect">
            <a:avLst/>
          </a:prstGeom>
          <a:noFill/>
        </p:spPr>
        <p:txBody>
          <a:bodyPr wrap="square">
            <a:spAutoFit/>
          </a:bodyPr>
          <a:lstStyle/>
          <a:p>
            <a:pPr algn="l"/>
            <a:r>
              <a:rPr sz="1000" b="0">
                <a:solidFill>
                  <a:srgbClr val="94A3B8"/>
                </a:solidFill>
                <a:latin typeface="Inter"/>
              </a:rPr>
              <a:t>SCENARIOS  ·  pool-exhaustion  ·  memory-leak  ·  traffic-surge  ·  retry-storm    |    BEST STRATEGIES  ·  failover:orders-db  ·  circuit-breaker:payments-api  ·  restart:orders-db  ·  circuit-breaker:payments-db    |    ALL TARGET THE TRUE ORIGIN</a:t>
            </a:r>
          </a:p>
        </p:txBody>
      </p:sp>
      <p:sp>
        <p:nvSpPr>
          <p:cNvPr id="17" name="TextBox 16"/>
          <p:cNvSpPr txBox="1"/>
          <p:nvPr/>
        </p:nvSpPr>
        <p:spPr>
          <a:xfrm>
            <a:off x="731520" y="5852160"/>
            <a:ext cx="10515600" cy="457200"/>
          </a:xfrm>
          <a:prstGeom prst="rect">
            <a:avLst/>
          </a:prstGeom>
          <a:noFill/>
        </p:spPr>
        <p:txBody>
          <a:bodyPr wrap="square">
            <a:spAutoFit/>
          </a:bodyPr>
          <a:lstStyle/>
          <a:p>
            <a:pPr algn="l"/>
            <a:r>
              <a:rPr sz="1100" b="0">
                <a:solidFill>
                  <a:srgbClr val="64748B"/>
                </a:solidFill>
                <a:latin typeface="Inter"/>
              </a:rPr>
              <a:t>Every figure is produced by scripts/evaluate.ts (4 fault scenarios, seed 42, 12 sim-min each) and rendered inside the app's Measured Benchmarks panel — nothing is hand-written.</a:t>
            </a:r>
          </a:p>
        </p:txBody>
      </p:sp>
      <p:sp>
        <p:nvSpPr>
          <p:cNvPr id="18" name="Rectangle 17"/>
          <p:cNvSpPr/>
          <p:nvPr/>
        </p:nvSpPr>
        <p:spPr>
          <a:xfrm>
            <a:off x="502920" y="6446520"/>
            <a:ext cx="11155680" cy="1828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37960"/>
            <a:ext cx="6400800" cy="274320"/>
          </a:xfrm>
          <a:prstGeom prst="rect">
            <a:avLst/>
          </a:prstGeom>
          <a:noFill/>
        </p:spPr>
        <p:txBody>
          <a:bodyPr wrap="square">
            <a:spAutoFit/>
          </a:bodyPr>
          <a:lstStyle/>
          <a:p>
            <a:pPr algn="l"/>
            <a:r>
              <a:rPr sz="900" b="0">
                <a:solidFill>
                  <a:srgbClr val="64748B"/>
                </a:solidFill>
                <a:latin typeface="Inter"/>
              </a:rPr>
              <a:t>SOURCE: docs/evaluation-report.json · public/evaluation-report.json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502920" y="320040"/>
            <a:ext cx="11155680" cy="640080"/>
          </a:xfrm>
          <a:prstGeom prst="rect">
            <a:avLst/>
          </a:prstGeom>
          <a:noFill/>
        </p:spPr>
        <p:txBody>
          <a:bodyPr wrap="square">
            <a:spAutoFit/>
          </a:bodyPr>
          <a:lstStyle/>
          <a:p>
            <a:pPr algn="l"/>
            <a:r>
              <a:rPr sz="1800" b="1">
                <a:solidFill>
                  <a:srgbClr val="38BDF8"/>
                </a:solidFill>
                <a:latin typeface="Inter"/>
              </a:rPr>
              <a:t>07  ARCHITECTURE  ·  Deterministic twin · Hybrid AI · Fully client-side</a:t>
            </a:r>
          </a:p>
        </p:txBody>
      </p:sp>
      <p:sp>
        <p:nvSpPr>
          <p:cNvPr id="3" name="Rectangle 2"/>
          <p:cNvSpPr/>
          <p:nvPr/>
        </p:nvSpPr>
        <p:spPr>
          <a:xfrm>
            <a:off x="502920" y="2560320"/>
            <a:ext cx="3657600" cy="2926080"/>
          </a:xfrm>
          <a:prstGeom prst="rect">
            <a:avLst/>
          </a:prstGeom>
          <a:solidFill>
            <a:srgbClr val="14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743200"/>
            <a:ext cx="3200400" cy="365760"/>
          </a:xfrm>
          <a:prstGeom prst="rect">
            <a:avLst/>
          </a:prstGeom>
          <a:noFill/>
        </p:spPr>
        <p:txBody>
          <a:bodyPr wrap="none">
            <a:spAutoFit/>
          </a:bodyPr>
          <a:lstStyle/>
          <a:p>
            <a:r>
              <a:rPr sz="1300" b="1">
                <a:solidFill>
                  <a:srgbClr val="38BDF8"/>
                </a:solidFill>
                <a:latin typeface="Inter"/>
              </a:rPr>
              <a:t>Digital Twin Engine</a:t>
            </a:r>
          </a:p>
        </p:txBody>
      </p:sp>
      <p:sp>
        <p:nvSpPr>
          <p:cNvPr id="5" name="TextBox 4"/>
          <p:cNvSpPr txBox="1"/>
          <p:nvPr/>
        </p:nvSpPr>
        <p:spPr>
          <a:xfrm>
            <a:off x="731520" y="3200400"/>
            <a:ext cx="3200400" cy="2011680"/>
          </a:xfrm>
          <a:prstGeom prst="rect">
            <a:avLst/>
          </a:prstGeom>
          <a:noFill/>
        </p:spPr>
        <p:txBody>
          <a:bodyPr wrap="square">
            <a:spAutoFit/>
          </a:bodyPr>
          <a:lstStyle/>
          <a:p>
            <a:pPr algn="l"/>
            <a:r>
              <a:rPr sz="1100">
                <a:solidFill>
                  <a:srgbClr val="94A3B8"/>
                </a:solidFill>
                <a:latin typeface="Inter"/>
              </a:rPr>
              <a:t>Deterministic mulberry32 PRNG · 9-service topology · 13 dependency edges · 600 ms real tick = 3000 ms sim step · telemetry published every step (speed-invariant)</a:t>
            </a:r>
          </a:p>
        </p:txBody>
      </p:sp>
      <p:sp>
        <p:nvSpPr>
          <p:cNvPr id="6" name="Rectangle 5"/>
          <p:cNvSpPr/>
          <p:nvPr/>
        </p:nvSpPr>
        <p:spPr>
          <a:xfrm>
            <a:off x="4297680" y="2560320"/>
            <a:ext cx="3657600" cy="2926080"/>
          </a:xfrm>
          <a:prstGeom prst="rect">
            <a:avLst/>
          </a:prstGeom>
          <a:solidFill>
            <a:srgbClr val="14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2743200"/>
            <a:ext cx="3200400" cy="365760"/>
          </a:xfrm>
          <a:prstGeom prst="rect">
            <a:avLst/>
          </a:prstGeom>
          <a:noFill/>
        </p:spPr>
        <p:txBody>
          <a:bodyPr wrap="none">
            <a:spAutoFit/>
          </a:bodyPr>
          <a:lstStyle/>
          <a:p>
            <a:r>
              <a:rPr sz="1300" b="1">
                <a:solidFill>
                  <a:srgbClr val="38BDF8"/>
                </a:solidFill>
                <a:latin typeface="Inter"/>
              </a:rPr>
              <a:t>Hybrid AI Stack</a:t>
            </a:r>
          </a:p>
        </p:txBody>
      </p:sp>
      <p:sp>
        <p:nvSpPr>
          <p:cNvPr id="8" name="TextBox 7"/>
          <p:cNvSpPr txBox="1"/>
          <p:nvPr/>
        </p:nvSpPr>
        <p:spPr>
          <a:xfrm>
            <a:off x="4526280" y="3200400"/>
            <a:ext cx="3200400" cy="2011680"/>
          </a:xfrm>
          <a:prstGeom prst="rect">
            <a:avLst/>
          </a:prstGeom>
          <a:noFill/>
        </p:spPr>
        <p:txBody>
          <a:bodyPr wrap="square">
            <a:spAutoFit/>
          </a:bodyPr>
          <a:lstStyle/>
          <a:p>
            <a:pPr algn="l"/>
            <a:r>
              <a:rPr sz="1100">
                <a:solidFill>
                  <a:srgbClr val="94A3B8"/>
                </a:solidFill>
                <a:latin typeface="Inter"/>
              </a:rPr>
              <a:t>Logistic risk scorer (EWMA trend + slope features) · 2-hop dependency propagation · self-vs-dependency-explained root cause · paired Monte-Carlo recovery (30 rollouts / 7 strategies)</a:t>
            </a:r>
          </a:p>
        </p:txBody>
      </p:sp>
      <p:sp>
        <p:nvSpPr>
          <p:cNvPr id="9" name="Rectangle 8"/>
          <p:cNvSpPr/>
          <p:nvPr/>
        </p:nvSpPr>
        <p:spPr>
          <a:xfrm>
            <a:off x="8092440" y="2560320"/>
            <a:ext cx="3657600" cy="2926080"/>
          </a:xfrm>
          <a:prstGeom prst="rect">
            <a:avLst/>
          </a:prstGeom>
          <a:solidFill>
            <a:srgbClr val="14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743200"/>
            <a:ext cx="3200400" cy="365760"/>
          </a:xfrm>
          <a:prstGeom prst="rect">
            <a:avLst/>
          </a:prstGeom>
          <a:noFill/>
        </p:spPr>
        <p:txBody>
          <a:bodyPr wrap="none">
            <a:spAutoFit/>
          </a:bodyPr>
          <a:lstStyle/>
          <a:p>
            <a:r>
              <a:rPr sz="1300" b="1">
                <a:solidFill>
                  <a:srgbClr val="38BDF8"/>
                </a:solidFill>
                <a:latin typeface="Inter"/>
              </a:rPr>
              <a:t>Verified Dashboard</a:t>
            </a:r>
          </a:p>
        </p:txBody>
      </p:sp>
      <p:sp>
        <p:nvSpPr>
          <p:cNvPr id="11" name="TextBox 10"/>
          <p:cNvSpPr txBox="1"/>
          <p:nvPr/>
        </p:nvSpPr>
        <p:spPr>
          <a:xfrm>
            <a:off x="8321040" y="3200400"/>
            <a:ext cx="3200400" cy="2011680"/>
          </a:xfrm>
          <a:prstGeom prst="rect">
            <a:avLst/>
          </a:prstGeom>
          <a:noFill/>
        </p:spPr>
        <p:txBody>
          <a:bodyPr wrap="square">
            <a:spAutoFit/>
          </a:bodyPr>
          <a:lstStyle/>
          <a:p>
            <a:pPr algn="l"/>
            <a:r>
              <a:rPr sz="1100">
                <a:solidFill>
                  <a:srgbClr val="94A3B8"/>
                </a:solidFill>
                <a:latin typeface="Inter"/>
              </a:rPr>
              <a:t>Prediction Ledger (✓ HIT / false-alarm / missed) · Service Deep-Dive drawer (metrics + trends + dependency graph) · Measured Benchmarks · Markdown incident report (⌘E) · keyboard shortcuts</a:t>
            </a:r>
          </a:p>
        </p:txBody>
      </p:sp>
      <p:sp>
        <p:nvSpPr>
          <p:cNvPr id="12" name="Rounded Rectangle 11"/>
          <p:cNvSpPr/>
          <p:nvPr/>
        </p:nvSpPr>
        <p:spPr>
          <a:xfrm>
            <a:off x="502920" y="5669280"/>
            <a:ext cx="11155680" cy="548640"/>
          </a:xfrm>
          <a:prstGeom prst="roundRect">
            <a:avLst>
              <a:gd name="adj" fmla="val 5000"/>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760720"/>
            <a:ext cx="10789920" cy="365760"/>
          </a:xfrm>
          <a:prstGeom prst="rect">
            <a:avLst/>
          </a:prstGeom>
          <a:noFill/>
        </p:spPr>
        <p:txBody>
          <a:bodyPr wrap="square">
            <a:spAutoFit/>
          </a:bodyPr>
          <a:lstStyle/>
          <a:p>
            <a:pPr algn="l"/>
            <a:r>
              <a:rPr sz="1300" b="1">
                <a:solidFill>
                  <a:srgbClr val="F1F5F9"/>
                </a:solidFill>
                <a:latin typeface="Inter"/>
              </a:rPr>
              <a:t>Built for Orcathon 2026  ·  Jay Ghevariya (solo)  ·  GitHub: pal-123456789/cascadeguard  ·  Live: cascadeguard-ten.vercel.app  ·  Fully open source  ·  Predict · Trace · Recover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