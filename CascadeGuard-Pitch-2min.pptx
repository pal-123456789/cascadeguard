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1371600"/>
            <a:ext cx="4114800" cy="3200400"/>
          </a:xfrm>
          <a:prstGeom prst="ellipse">
            <a:avLst/>
          </a:prstGeom>
          <a:solidFill>
            <a:srgbClr val="0D1520"/>
          </a:solidFill>
          <a:ln w="9525">
            <a:solidFill>
              <a:srgbClr val="141A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2194560" cy="292608"/>
          </a:xfrm>
          <a:prstGeom prst="roundRect">
            <a:avLst>
              <a:gd name="adj" fmla="val 3000"/>
            </a:avLst>
          </a:prstGeom>
          <a:solidFill>
            <a:srgbClr val="10141C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29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9CAE"/>
                </a:solidFill>
                <a:latin typeface="JetBrains Mono"/>
              </a:rPr>
              <a:t>ORCATHON 2026  ·  TRACK 01  SOFTWARE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4F6F8"/>
                </a:solidFill>
                <a:latin typeface="Inter"/>
              </a:rPr>
              <a:t>CascadeGuard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38D0F5"/>
                </a:solidFill>
                <a:latin typeface="Inter"/>
              </a:rPr>
              <a:t>See the outage before it happens.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97680"/>
            <a:ext cx="5029200" cy="6350"/>
          </a:xfrm>
          <a:prstGeom prst="rect">
            <a:avLst/>
          </a:prstGeom>
          <a:solidFill>
            <a:srgbClr val="1E6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6177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9CAE"/>
                </a:solidFill>
                <a:latin typeface="Inter"/>
              </a:rPr>
              <a:t>A production-grade AI system that predicts cascading software failures, traces root causes, compares recovery strategies with Monte-Carlo simulation, and verifies predictions live against ground truth — fully in your browser.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806440"/>
            <a:ext cx="3383280" cy="68580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704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D0F5"/>
                </a:solidFill>
                <a:latin typeface="Inter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5897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9CAE"/>
                </a:solidFill>
                <a:latin typeface="JetBrains Mono"/>
              </a:rPr>
              <a:t>RECALL  ·  0 MISSED  ·  6 HITS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5806440"/>
            <a:ext cx="3383280" cy="68580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58704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D0F5"/>
                </a:solidFill>
                <a:latin typeface="Inter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5897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9CAE"/>
                </a:solidFill>
                <a:latin typeface="JetBrains Mono"/>
              </a:rPr>
              <a:t>ORIGIN ACCURACY  ·  4 /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5806440"/>
            <a:ext cx="3383280" cy="68580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0" y="58704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D0F5"/>
                </a:solidFill>
                <a:latin typeface="Inter"/>
              </a:rPr>
              <a:t>75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58978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9CAE"/>
                </a:solidFill>
                <a:latin typeface="JetBrains Mono"/>
              </a:rPr>
              <a:t>AVG WARNING LEAD  ·  120 s MAX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00800"/>
            <a:ext cx="11247120" cy="635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ORCATHON 2026  ·  TRACK 01 SOFTWARE &amp; AI  ·  JAY GHEVARIYA (SOLO)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28F"/>
                </a:solidFill>
                <a:latin typeface="JetBrains Mono"/>
              </a:rPr>
              <a:t>GITHUB  ·  pal-123456789/cascadeguard  ·  LIVE  ·  cascadeguard-ten.vercel.app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194560" cy="292608"/>
          </a:xfrm>
          <a:prstGeom prst="roundRect">
            <a:avLst>
              <a:gd name="adj" fmla="val 3000"/>
            </a:avLst>
          </a:prstGeom>
          <a:solidFill>
            <a:srgbClr val="10141C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9CAE"/>
                </a:solidFill>
                <a:latin typeface="JetBrains Mono"/>
              </a:rPr>
              <a:t>01  ·  THE PROBLEM  ·  DIGITAL TWIN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468880" cy="50292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45720" cy="502920"/>
          </a:xfrm>
          <a:prstGeom prst="rect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0812"/>
                </a:solidFill>
                <a:latin typeface="JetBrains Mono"/>
              </a:rPr>
              <a:t>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2468880" cy="50292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017520"/>
            <a:ext cx="45720" cy="502920"/>
          </a:xfrm>
          <a:prstGeom prst="rect">
            <a:avLst/>
          </a:prstGeom>
          <a:solidFill>
            <a:srgbClr val="3A566E"/>
          </a:solidFill>
          <a:ln w="9525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906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F6F8"/>
                </a:solidFill>
                <a:latin typeface="JetBrains Mono"/>
              </a:rPr>
              <a:t>ORDERS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2468880" cy="50292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45720" cy="502920"/>
          </a:xfrm>
          <a:prstGeom prst="rect">
            <a:avLst/>
          </a:prstGeom>
          <a:solidFill>
            <a:srgbClr val="F05A6E"/>
          </a:solidFill>
          <a:ln w="9525">
            <a:solidFill>
              <a:srgbClr val="F0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50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F6F8"/>
                </a:solidFill>
                <a:latin typeface="JetBrains Mono"/>
              </a:rPr>
              <a:t>ORDERS DB  ·  FAILING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743200"/>
            <a:ext cx="2468880" cy="50292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2743200"/>
            <a:ext cx="45720" cy="502920"/>
          </a:xfrm>
          <a:prstGeom prst="rect">
            <a:avLst/>
          </a:prstGeom>
          <a:solidFill>
            <a:srgbClr val="3A566E"/>
          </a:solidFill>
          <a:ln w="9525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81635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F6F8"/>
                </a:solidFill>
                <a:latin typeface="JetBrains Mono"/>
              </a:rPr>
              <a:t>INVENTORY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846320"/>
            <a:ext cx="2468880" cy="50292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846320"/>
            <a:ext cx="45720" cy="502920"/>
          </a:xfrm>
          <a:prstGeom prst="rect">
            <a:avLst/>
          </a:prstGeom>
          <a:solidFill>
            <a:srgbClr val="3A566E"/>
          </a:solidFill>
          <a:ln w="9525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194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F6F8"/>
                </a:solidFill>
                <a:latin typeface="JetBrains Mono"/>
              </a:rPr>
              <a:t>PAYMENTS API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2926080" y="4114800"/>
            <a:ext cx="320040" cy="640080"/>
          </a:xfrm>
          <a:prstGeom prst="downArrow">
            <a:avLst/>
          </a:prstGeom>
          <a:solidFill>
            <a:srgbClr val="F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10312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6F8"/>
                </a:solidFill>
                <a:latin typeface="Inter"/>
              </a:rPr>
              <a:t>A live digital twin of a 9-service e-commerce cluster.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01752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9CAE"/>
                </a:solidFill>
                <a:latin typeface="Inter"/>
              </a:rPr>
              <a:t>The gateway feeds APIs; APIs call databases and a cache. When Orders DB's connection pool exhausts, a retry storm amplifies upstream — gateway degradation, orders-api saturation, inventory-api error spike. The cascade isn't a sequence of independent alerts; it's a single failure propagating through a dependency graph. CascadeGuard doesn't watch for symptoms. It predicts the origin.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5394960"/>
            <a:ext cx="7132320" cy="86868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553212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D0F5"/>
                </a:solidFill>
                <a:latin typeface="JetBrains Mono"/>
              </a:rPr>
              <a:t>13 dependency edges  ·  9 services  ·  4 fault scenarios  ·  deterministic seed 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897880"/>
            <a:ext cx="6766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9CAE"/>
                </a:solidFill>
                <a:latin typeface="Inter"/>
              </a:rPr>
              <a:t>Every service, edge weight and capacity is defined in src/core/engine/topology — no synthetic approximation.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00800"/>
            <a:ext cx="11247120" cy="635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ORCATHON 2026  ·  TRACK 01 SOFTWARE &amp; AI  ·  JAY GHEVARIYA (SOLO)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28F"/>
                </a:solidFill>
                <a:latin typeface="JetBrains Mono"/>
              </a:rPr>
              <a:t>SCENARIO  ·  CONNECTION POOL EXHAUSTION  ·  LIVE  ·  cascadeguard-ten.vercel.app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194560" cy="292608"/>
          </a:xfrm>
          <a:prstGeom prst="roundRect">
            <a:avLst>
              <a:gd name="adj" fmla="val 3000"/>
            </a:avLst>
          </a:prstGeom>
          <a:solidFill>
            <a:srgbClr val="10141C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9CAE"/>
                </a:solidFill>
                <a:latin typeface="JetBrains Mono"/>
              </a:rPr>
              <a:t>02  ·  PREDICTION  ·  HYBRID AI  ·  120 s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>
                <a:solidFill>
                  <a:srgbClr val="38D0F5"/>
                </a:solidFill>
                <a:latin typeface="Inter"/>
              </a:rPr>
              <a:t>120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JetBrains Mono"/>
              </a:rPr>
              <a:t>WARNING LEAD TIME  ·  BEFORE ORIGIN SERVICE FAILS  ·  SCENARIO: POOL-EXHAUSTION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645920"/>
            <a:ext cx="18288" cy="4572000"/>
          </a:xfrm>
          <a:prstGeom prst="rect">
            <a:avLst/>
          </a:prstGeom>
          <a:solidFill>
            <a:srgbClr val="1A2430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645920"/>
            <a:ext cx="5852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4F6F8"/>
                </a:solidFill>
                <a:latin typeface="Inter"/>
              </a:rPr>
              <a:t>How it predicts</a:t>
            </a:r>
          </a:p>
        </p:txBody>
      </p:sp>
      <p:sp>
        <p:nvSpPr>
          <p:cNvPr id="8" name="Oval 7"/>
          <p:cNvSpPr/>
          <p:nvPr/>
        </p:nvSpPr>
        <p:spPr>
          <a:xfrm>
            <a:off x="5760720" y="3182112"/>
            <a:ext cx="91440" cy="91440"/>
          </a:xfrm>
          <a:prstGeom prst="ellipse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3017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Logistic risk scorer: 11 weighted signals (memory, saturation, error rate, CPU, p99 latency, EWMA slope trends, log burst).</a:t>
            </a:r>
          </a:p>
        </p:txBody>
      </p:sp>
      <p:sp>
        <p:nvSpPr>
          <p:cNvPr id="10" name="Oval 9"/>
          <p:cNvSpPr/>
          <p:nvPr/>
        </p:nvSpPr>
        <p:spPr>
          <a:xfrm>
            <a:off x="5760720" y="3685031"/>
            <a:ext cx="91440" cy="91440"/>
          </a:xfrm>
          <a:prstGeom prst="ellipse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3520439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2-hop dependency-graph propagation: risk flows through edges with decay (PROP_GAIN = 0.3).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0" y="4187952"/>
            <a:ext cx="91440" cy="91440"/>
          </a:xfrm>
          <a:prstGeom prst="ellipse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4023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Self-vs-dependency-explained root-cause scoring: origins score higher than victims.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0" y="4690872"/>
            <a:ext cx="91440" cy="91440"/>
          </a:xfrm>
          <a:prstGeom prst="ellipse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45262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Time-based trend window (120 s): speed-invariant at 1×, 2×, 4× or 20× playback.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0" y="5193792"/>
            <a:ext cx="91440" cy="91440"/>
          </a:xfrm>
          <a:prstGeom prst="ellipse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5029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Kind-sensitive risk scaling: database 1.2×, queue 1.15×, gateway 0.95×.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3383280" cy="64008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961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D0F5"/>
                </a:solidFill>
                <a:latin typeface="Inter"/>
              </a:rPr>
              <a:t>120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9CAE"/>
                </a:solidFill>
                <a:latin typeface="JetBrains Mono"/>
              </a:rPr>
              <a:t>BEST CONFIRMED LEAD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5486400"/>
            <a:ext cx="3383280" cy="64008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55961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D0F5"/>
                </a:solidFill>
                <a:latin typeface="Inter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9CAE"/>
                </a:solidFill>
                <a:latin typeface="JetBrains Mono"/>
              </a:rPr>
              <a:t>MISSED FAILURES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5486400"/>
            <a:ext cx="3383280" cy="64008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5961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8D0F5"/>
                </a:solidFill>
                <a:latin typeface="Inter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56235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9CAE"/>
                </a:solidFill>
                <a:latin typeface="JetBrains Mono"/>
              </a:rPr>
              <a:t>RECALL  ·  6 HITS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00800"/>
            <a:ext cx="11247120" cy="635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ORCATHON 2026  ·  TRACK 01 SOFTWARE &amp; AI  ·  JAY GHEVARIYA (SOLO)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28F"/>
                </a:solidFill>
                <a:latin typeface="JetBrains Mono"/>
              </a:rPr>
              <a:t>VERIFIED  ·  scripts/evaluate.ts  ·  docs/evaluation-report.json  ·  SEED 42  ·  12 SIM-MIN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194560" cy="292608"/>
          </a:xfrm>
          <a:prstGeom prst="roundRect">
            <a:avLst>
              <a:gd name="adj" fmla="val 3000"/>
            </a:avLst>
          </a:prstGeom>
          <a:solidFill>
            <a:srgbClr val="10141C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9CAE"/>
                </a:solidFill>
                <a:latin typeface="JetBrains Mono"/>
              </a:rPr>
              <a:t>03  ·  ROOT CAUSE  ·  SELF-INFLICTED VS DEPENDENCY-EXPLAINED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2560320" cy="91440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54864" cy="914400"/>
          </a:xfrm>
          <a:prstGeom prst="rect">
            <a:avLst/>
          </a:prstGeom>
          <a:solidFill>
            <a:srgbClr val="E8A850"/>
          </a:solidFill>
          <a:ln w="9525">
            <a:solidFill>
              <a:srgbClr val="E8A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F6F8"/>
                </a:solidFill>
                <a:latin typeface="Inter"/>
              </a:rPr>
              <a:t>Edge Gateway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6A8C"/>
                </a:solidFill>
                <a:latin typeface="JetBrains Mono"/>
              </a:rPr>
              <a:t>SAT: 0.56  ·  ERR: 10%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429000" y="2697480"/>
            <a:ext cx="411480" cy="137160"/>
          </a:xfrm>
          <a:prstGeom prst="rightArrow">
            <a:avLst/>
          </a:prstGeom>
          <a:solidFill>
            <a:srgbClr val="38D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2286000"/>
            <a:ext cx="2560320" cy="91440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2286000"/>
            <a:ext cx="54864" cy="914400"/>
          </a:xfrm>
          <a:prstGeom prst="rect">
            <a:avLst/>
          </a:prstGeom>
          <a:solidFill>
            <a:srgbClr val="3A566E"/>
          </a:solidFill>
          <a:ln w="9525">
            <a:solidFill>
              <a:srgbClr val="3A5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4F6F8"/>
                </a:solidFill>
                <a:latin typeface="Inter"/>
              </a:rPr>
              <a:t>Orders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1E6A8C"/>
                </a:solidFill>
                <a:latin typeface="JetBrains Mono"/>
              </a:rPr>
              <a:t>SAT: 0.34  ·  ERR: 48%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355080" y="2697480"/>
            <a:ext cx="411480" cy="137160"/>
          </a:xfrm>
          <a:prstGeom prst="rightArrow">
            <a:avLst/>
          </a:prstGeom>
          <a:solidFill>
            <a:srgbClr val="F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0" y="2286000"/>
            <a:ext cx="2560320" cy="91440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0" y="2286000"/>
            <a:ext cx="54864" cy="914400"/>
          </a:xfrm>
          <a:prstGeom prst="rect">
            <a:avLst/>
          </a:prstGeom>
          <a:solidFill>
            <a:srgbClr val="F05A6E"/>
          </a:solidFill>
          <a:ln w="9525">
            <a:solidFill>
              <a:srgbClr val="F0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60812"/>
                </a:solidFill>
                <a:latin typeface="Inter"/>
              </a:rPr>
              <a:t>Orders DB  ·  ORIGIN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E8A850"/>
                </a:solidFill>
                <a:latin typeface="JetBrains Mono"/>
              </a:rPr>
              <a:t>SAT: 1.30  ·  ERR: 95%  ·  CONFIDENCE: 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CAE"/>
                </a:solidFill>
                <a:latin typeface="Inter"/>
              </a:rPr>
              <a:t>The root-cause analyser compares self-inflicted severity (service's own saturation, memory, error rate) against dependency-explained share (how much of its error is explained by unhealthy upstream dependencies). The true origin degrades independently — the victim inherits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0789920" cy="82296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49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8D0F5"/>
                </a:solidFill>
                <a:latin typeface="Inter"/>
              </a:rPr>
              <a:t>100% ORIGIN ACCURACY  ·  4 / 4 SCENARIOS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54406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Predicted origins: orders-db · payments-api · orders-db · payments-db  ·  All match ground truth exactly.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00800"/>
            <a:ext cx="11247120" cy="635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ORCATHON 2026  ·  TRACK 01 SOFTWARE &amp; AI  ·  JAY GHEVARIYA (SOLO)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28F"/>
                </a:solidFill>
                <a:latin typeface="JetBrains Mono"/>
              </a:rPr>
              <a:t>METHOD  ·  BASELINE (10th PERCENTILE)  ·  DEPENDENCY-EXPLAINED SHARE  ·  PATH STRENGTH (DFS ≤ 4 HOPS)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194560" cy="292608"/>
          </a:xfrm>
          <a:prstGeom prst="roundRect">
            <a:avLst>
              <a:gd name="adj" fmla="val 3000"/>
            </a:avLst>
          </a:prstGeom>
          <a:solidFill>
            <a:srgbClr val="10141C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9CAE"/>
                </a:solidFill>
                <a:latin typeface="JetBrains Mono"/>
              </a:rPr>
              <a:t>04  ·  RECOVERY  ·  MONTE-CARLO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949CAE"/>
                </a:solidFill>
                <a:latin typeface="Inter"/>
              </a:rPr>
              <a:t>Seven strategies · 30 paired rollouts · common random numbers · verdict by baseline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828800" cy="411480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305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8D0F5"/>
                </a:solidFill>
                <a:latin typeface="JetBrains Mono"/>
              </a:rPr>
              <a:t>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2103120"/>
            <a:ext cx="1828800" cy="411480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23160" y="21305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8D0F5"/>
                </a:solidFill>
                <a:latin typeface="JetBrains Mono"/>
              </a:rPr>
              <a:t>SUCCESS 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2103120"/>
            <a:ext cx="1828800" cy="411480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21305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8D0F5"/>
                </a:solidFill>
                <a:latin typeface="JetBrains Mono"/>
              </a:rPr>
              <a:t>NEW FAILURES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03120"/>
            <a:ext cx="1828800" cy="411480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21305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8D0F5"/>
                </a:solidFill>
                <a:latin typeface="JetBrains Mono"/>
              </a:rPr>
              <a:t>DAMAGE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103120"/>
            <a:ext cx="1828800" cy="411480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1305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8D0F5"/>
                </a:solidFill>
                <a:latin typeface="JetBrains Mono"/>
              </a:rPr>
              <a:t>MTTR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92640" y="2103120"/>
            <a:ext cx="1645920" cy="411480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21305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8D0F5"/>
                </a:solidFill>
                <a:latin typeface="JetBrains Mono"/>
              </a:rPr>
              <a:t>VERDICT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6334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failover:orders-db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56032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26334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56032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26334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0.0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256032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6334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0.0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256032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0" y="26334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12m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560320"/>
            <a:ext cx="164592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2560320"/>
            <a:ext cx="27432" cy="438912"/>
          </a:xfrm>
          <a:prstGeom prst="rect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263347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8D0F5"/>
                </a:solidFill>
                <a:latin typeface="JetBrains Mono"/>
              </a:rPr>
              <a:t>RECOMMENDED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063239"/>
            <a:ext cx="1828800" cy="438912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136391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circuit-breaker:orders-db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063239"/>
            <a:ext cx="1828800" cy="438912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3136391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3063239"/>
            <a:ext cx="1828800" cy="438912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3136391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2.6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063239"/>
            <a:ext cx="1828800" cy="438912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3136391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128.0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3063239"/>
            <a:ext cx="1828800" cy="438912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0" y="3136391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12m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92640" y="3063239"/>
            <a:ext cx="1645920" cy="438912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0" y="313639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5A6E"/>
                </a:solidFill>
                <a:latin typeface="JetBrains Mono"/>
              </a:rPr>
              <a:t>NOT RECOMMENDED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56616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6393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restart:orders-db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356616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68880" y="36393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06240" y="356616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0" y="36393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3.0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356616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36393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401.0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356616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80" y="36393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12m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92640" y="3566160"/>
            <a:ext cx="164592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784080" y="363931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5A6E"/>
                </a:solidFill>
                <a:latin typeface="JetBrains Mono"/>
              </a:rPr>
              <a:t>NOT RECOMMENDED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069080"/>
            <a:ext cx="1828800" cy="438912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14223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shed-load:gateway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40" y="4069080"/>
            <a:ext cx="1828800" cy="438912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68880" y="414223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06240" y="4069080"/>
            <a:ext cx="1828800" cy="438912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7680" y="414223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3.6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35040" y="4069080"/>
            <a:ext cx="1828800" cy="438912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0" y="414223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158.0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63840" y="4069080"/>
            <a:ext cx="1828800" cy="438912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55280" y="414223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12m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92640" y="4069080"/>
            <a:ext cx="1645920" cy="438912"/>
          </a:xfrm>
          <a:prstGeom prst="rect">
            <a:avLst/>
          </a:prstGeom>
          <a:solidFill>
            <a:srgbClr val="10141C"/>
          </a:solidFill>
          <a:ln w="9525">
            <a:solidFill>
              <a:srgbClr val="1014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84080" y="414223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5A6E"/>
                </a:solidFill>
                <a:latin typeface="JetBrains Mono"/>
              </a:rPr>
              <a:t>NOT RECOMMENDED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457200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46451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no-action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77440" y="457200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468880" y="46451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06240" y="457200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97680" y="46451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3.5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35040" y="457200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26480" y="46451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155.0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63840" y="4572000"/>
            <a:ext cx="182880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55280" y="464515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F6F8"/>
                </a:solidFill>
                <a:latin typeface="JetBrains Mono"/>
              </a:rPr>
              <a:t>12m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92640" y="4572000"/>
            <a:ext cx="1645920" cy="438912"/>
          </a:xfrm>
          <a:prstGeom prst="rect">
            <a:avLst/>
          </a:prstGeom>
          <a:solidFill>
            <a:srgbClr val="0D1118"/>
          </a:solidFill>
          <a:ln w="9525">
            <a:solidFill>
              <a:srgbClr val="0D11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84080" y="4645152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05A6E"/>
                </a:solidFill>
                <a:latin typeface="JetBrains Mono"/>
              </a:rPr>
              <a:t>NOT RECOMMENDED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5120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Paired common-random-number rollouts mean the measured lift (recommended vs not-recommended) is attributable to the action — not random noise. A strategy is 'recommended' only if it beats the no-action baseline (success ≥ 50% + positive lift).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5715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ABSTRACT MODEL  ·  DEMAND FLOWS TOPOLOGICALLY  ·  SPILLOVER + RETRY PRESSURE  ·  144 STEPS (12 MIN)  ·  5 s / STEP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6400800"/>
            <a:ext cx="11247120" cy="635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ORCATHON 2026  ·  TRACK 01 SOFTWARE &amp; AI  ·  JAY GHEVARIYA (SOLO)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31520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28F"/>
                </a:solidFill>
                <a:latin typeface="JetBrains Mono"/>
              </a:rPr>
              <a:t>SCENARIO  ·  POOL-EXHAUSTION  ·  30 ROLLOUTS  ·  SEED 42  ·  PAID BASELINE SHARED ACROSS ALL STRATEGIES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194560" cy="292608"/>
          </a:xfrm>
          <a:prstGeom prst="roundRect">
            <a:avLst>
              <a:gd name="adj" fmla="val 3000"/>
            </a:avLst>
          </a:prstGeom>
          <a:solidFill>
            <a:srgbClr val="10141C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9CAE"/>
                </a:solidFill>
                <a:latin typeface="JetBrains Mono"/>
              </a:rPr>
              <a:t>05  ·  BUSINESS IMPACT  ·  SLO METRICS  ·  NOT SERVICE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4F6F8"/>
                </a:solidFill>
                <a:latin typeface="Inter"/>
              </a:rPr>
              <a:t>What a CTO asks about — converted live from telemetry into business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3566160" cy="292608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3566160" cy="36576"/>
          </a:xfrm>
          <a:prstGeom prst="rect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8D0F5"/>
                </a:solidFill>
                <a:latin typeface="JetBrains Mono"/>
              </a:rPr>
              <a:t>SLO BURN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D0F5"/>
                </a:solidFill>
                <a:latin typeface="Inter"/>
              </a:rPr>
              <a:t>11.37×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Critical threshold exceeded rapidly. Budget depletion accelerates as unhealthy services accumulate.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DERIVED FROM SLO THRESHOLD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194560"/>
            <a:ext cx="3566160" cy="292608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2194560"/>
            <a:ext cx="3566160" cy="36576"/>
          </a:xfrm>
          <a:prstGeom prst="rect">
            <a:avLst/>
          </a:prstGeom>
          <a:solidFill>
            <a:srgbClr val="E8A850"/>
          </a:solidFill>
          <a:ln w="9525">
            <a:solidFill>
              <a:srgbClr val="E8A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A850"/>
                </a:solidFill>
                <a:latin typeface="JetBrains Mono"/>
              </a:rPr>
              <a:t>USER FLOW DEGRADED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834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850"/>
                </a:solidFill>
                <a:latin typeface="Inter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8862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Every critical user journey affected by the cascading failure originating at Orders DB.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DERIVED FROM SERVICE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2194560"/>
            <a:ext cx="3566160" cy="292608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2194560"/>
            <a:ext cx="3566160" cy="36576"/>
          </a:xfrm>
          <a:prstGeom prst="rect">
            <a:avLst/>
          </a:prstGeom>
          <a:solidFill>
            <a:srgbClr val="F05A6E"/>
          </a:solidFill>
          <a:ln w="9525">
            <a:solidFill>
              <a:srgbClr val="F05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468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05A6E"/>
                </a:solidFill>
                <a:latin typeface="JetBrains Mono"/>
              </a:rPr>
              <a:t>REVENUE AT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834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5A6E"/>
                </a:solidFill>
                <a:latin typeface="Inter"/>
              </a:rPr>
              <a:t>$34.2k /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38862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Estimated loss rate at time of incident opening — computed live from service criticality weights.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5212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COMPUTED LIVE FROM ENGINE SNAPSHOT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080760"/>
            <a:ext cx="11064240" cy="50292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6A8C"/>
                </a:solidFill>
                <a:latin typeface="JetBrains Mono"/>
              </a:rPr>
              <a:t>IMPACT PANEL  ·  SEVERITY: CRITICAL (5+ AFFECTED SERVICES)  ·  COMPUTED FROM snap.metrics  ·  NO HAND-WRITTEN ESTIMATES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00800"/>
            <a:ext cx="11247120" cy="635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ORCATHON 2026  ·  TRACK 01 SOFTWARE &amp; AI  ·  JAY GHEVARIYA (SOLO)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28F"/>
                </a:solidFill>
                <a:latin typeface="JetBrains Mono"/>
              </a:rPr>
              <a:t>SCENARIO  ·  POOL-EXHAUSTION  ·  SEVERITY: CRITICAL  ·  AFFECTED SERVICES: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194560" cy="292608"/>
          </a:xfrm>
          <a:prstGeom prst="roundRect">
            <a:avLst>
              <a:gd name="adj" fmla="val 3000"/>
            </a:avLst>
          </a:prstGeom>
          <a:solidFill>
            <a:srgbClr val="10141C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9CAE"/>
                </a:solidFill>
                <a:latin typeface="JetBrains Mono"/>
              </a:rPr>
              <a:t>06  ·  MEASURED BENCHMARKS  ·  REGENERATED BY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49CAE"/>
                </a:solidFill>
                <a:latin typeface="Inter"/>
              </a:rPr>
              <a:t>Every figure below is produced by scripts/evaluate.ts — 4 scenarios, seed 42, 12 sim-min each — and rendered live in the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51760" cy="256032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651760" cy="36576"/>
          </a:xfrm>
          <a:prstGeom prst="rect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D0F5"/>
                </a:solidFill>
                <a:latin typeface="Inter"/>
              </a:rPr>
              <a:t>75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8D0F5"/>
                </a:solidFill>
                <a:latin typeface="JetBrains Mono"/>
              </a:rPr>
              <a:t>AVERAGE WARNING LEAD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9CAE"/>
                </a:solidFill>
                <a:latin typeface="Inter"/>
              </a:rPr>
              <a:t>Up to 120 s in the flagship pool-exhaustion scenario.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11680"/>
            <a:ext cx="2651760" cy="256032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011680"/>
            <a:ext cx="2651760" cy="36576"/>
          </a:xfrm>
          <a:prstGeom prst="rect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D0F5"/>
                </a:solidFill>
                <a:latin typeface="Inter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108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8D0F5"/>
                </a:solidFill>
                <a:latin typeface="JetBrains Mono"/>
              </a:rPr>
              <a:t>ORIGIN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657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9CAE"/>
                </a:solidFill>
                <a:latin typeface="Inter"/>
              </a:rPr>
              <a:t>True origin identified correctly across all 4 fault scenarios.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2011680"/>
            <a:ext cx="2651760" cy="256032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79" y="2011680"/>
            <a:ext cx="2651760" cy="36576"/>
          </a:xfrm>
          <a:prstGeom prst="rect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D0F5"/>
                </a:solidFill>
                <a:latin typeface="Inter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108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8D0F5"/>
                </a:solidFill>
                <a:latin typeface="JetBrains Mono"/>
              </a:rPr>
              <a:t>RECALL  ·  6 HITS  ·  0 MISSED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657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9CAE"/>
                </a:solidFill>
                <a:latin typeface="Inter"/>
              </a:rPr>
              <a:t>Every failure was predicted before it occurred — no false negatives.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399" y="2011680"/>
            <a:ext cx="2651760" cy="256032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399" y="2011680"/>
            <a:ext cx="2651760" cy="36576"/>
          </a:xfrm>
          <a:prstGeom prst="rect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79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8D0F5"/>
                </a:solidFill>
                <a:latin typeface="Inter"/>
              </a:rPr>
              <a:t>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79" y="3108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8D0F5"/>
                </a:solidFill>
                <a:latin typeface="JetBrains Mono"/>
              </a:rPr>
              <a:t>PRECISION  ·  HONEST REPORTING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79" y="36576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9CAE"/>
                </a:solidFill>
                <a:latin typeface="Inter"/>
              </a:rPr>
              <a:t>2 false alarms out of 8 predictions — reported, not smoothed away.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064240" cy="822960"/>
          </a:xfrm>
          <a:prstGeom prst="roundRect">
            <a:avLst>
              <a:gd name="adj" fmla="val 3000"/>
            </a:avLst>
          </a:prstGeom>
          <a:solidFill>
            <a:srgbClr val="10141C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8D0F5"/>
                </a:solidFill>
                <a:latin typeface="JetBrains Mono"/>
              </a:rPr>
              <a:t>POOL-EXHAUSTION  ·  MEMORY-LEAK  ·  TRAFFIC-SURGE  ·  RETRY-STORM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03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F6F8"/>
                </a:solidFill>
                <a:latin typeface="JetBrains Mono"/>
              </a:rPr>
              <a:t>AVG LEAD: 75 s  ·  ORIGIN ACC: 100%  ·  PRECISION: 75%  ·  RECALL: 100%  ·  HITS: 6  ·  MISSED: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806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SOURCE  ·  docs/evaluation-report.json  ·  public/evaluation-report.json  ·  SEED 42  ·  4 SCENARIOS  ·  12 SIM-MIN EACH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400800"/>
            <a:ext cx="11247120" cy="635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ORCATHON 2026  ·  TRACK 01 SOFTWARE &amp; AI  ·  JAY GHEVARIYA (SOLO)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28F"/>
                </a:solidFill>
                <a:latin typeface="JetBrains Mono"/>
              </a:rPr>
              <a:t>VERIFIED HEADLESS  ·  scripts/evaluate.ts  ·  NO HAND-WRITTEN NUMBERS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65760"/>
            <a:ext cx="2194560" cy="292608"/>
          </a:xfrm>
          <a:prstGeom prst="roundRect">
            <a:avLst>
              <a:gd name="adj" fmla="val 3000"/>
            </a:avLst>
          </a:prstGeom>
          <a:solidFill>
            <a:srgbClr val="10141C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9CAE"/>
                </a:solidFill>
                <a:latin typeface="JetBrains Mono"/>
              </a:rPr>
              <a:t>07  ·  ARCHITECTURE  ·  FULLY CLIENT-SIDE  ·  NO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4F6F8"/>
                </a:solidFill>
                <a:latin typeface="Inter"/>
              </a:rPr>
              <a:t>Deterministic twin · Hybrid AI · Verified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240280"/>
            <a:ext cx="594360" cy="594360"/>
          </a:xfrm>
          <a:prstGeom prst="ellipse">
            <a:avLst/>
          </a:prstGeom>
          <a:solidFill>
            <a:srgbClr val="38D0F5"/>
          </a:solidFill>
          <a:ln w="9525">
            <a:solidFill>
              <a:srgbClr val="38D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59152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0812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Inter"/>
              </a:rPr>
              <a:t>DETERMINISTIC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063240"/>
            <a:ext cx="3063240" cy="635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Seeded mulberry32 PRNG. 9 services · 13 dependency edges · 600 ms real tick = 3000 ms sim step. Telemetry published every simulation step — speed-invariant EWMA trend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201168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59" y="2240280"/>
            <a:ext cx="594360" cy="594360"/>
          </a:xfrm>
          <a:prstGeom prst="ellipse">
            <a:avLst/>
          </a:prstGeom>
          <a:solidFill>
            <a:srgbClr val="34D399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2359152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0812"/>
                </a:solidFill>
                <a:latin typeface="Inter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22402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Inter"/>
              </a:rPr>
              <a:t>HYBRID AI STACK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59" y="3063240"/>
            <a:ext cx="3063240" cy="635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32004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Logistic risk scorer (EWMA + slope features) · 2-hop graph propagation · self-vs-dependency-explained root-cause scoring · paired Monte-Carlo recovery (30 rollouts / 7 strategies).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011680"/>
            <a:ext cx="3520440" cy="2926080"/>
          </a:xfrm>
          <a:prstGeom prst="roundRect">
            <a:avLst>
              <a:gd name="adj" fmla="val 3000"/>
            </a:avLst>
          </a:prstGeom>
          <a:solidFill>
            <a:srgbClr val="0D1118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83879" y="2240280"/>
            <a:ext cx="594360" cy="594360"/>
          </a:xfrm>
          <a:prstGeom prst="ellipse">
            <a:avLst/>
          </a:prstGeom>
          <a:solidFill>
            <a:srgbClr val="E8A850"/>
          </a:solidFill>
          <a:ln w="9525">
            <a:solidFill>
              <a:srgbClr val="E8A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2359152"/>
            <a:ext cx="594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0812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79" y="22402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6F8"/>
                </a:solidFill>
                <a:latin typeface="Inter"/>
              </a:rPr>
              <a:t>VERIFIED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3063240"/>
            <a:ext cx="3063240" cy="635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320040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9CAE"/>
                </a:solidFill>
                <a:latin typeface="Inter"/>
              </a:rPr>
              <a:t>Prediction Ledger (✓ HIT / false-alarm / missed) · Service Deep-Dive drawer (metrics + trends + dependency graph) · Measured Benchmarks · Markdown incident report · keyboard shortcuts.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3000"/>
            </a:avLst>
          </a:prstGeom>
          <a:solidFill>
            <a:srgbClr val="10141C"/>
          </a:solidFill>
          <a:ln w="9525">
            <a:solidFill>
              <a:srgbClr val="1A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94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4F6F8"/>
                </a:solidFill>
                <a:latin typeface="Inter"/>
              </a:rPr>
              <a:t>Predict · Trace · Recover  ·  Fully open source  ·  Live: cascadeguard-ten.vercel.app  ·  GitHub: pal-123456789/cascadeguard  ·  Built for Orcathon 2026 · Jay Ghevariya (solo)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6A8C"/>
                </a:solidFill>
                <a:latin typeface="JetBrains Mono"/>
              </a:rPr>
              <a:t>Every claim verified by the engine's own ground truth · Every number regenerated by scripts/evaluate.ts · No black-box AI · No hand-written estimates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00800"/>
            <a:ext cx="11247120" cy="6350"/>
          </a:xfrm>
          <a:prstGeom prst="rect">
            <a:avLst/>
          </a:prstGeom>
          <a:solidFill>
            <a:srgbClr val="1A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A6070"/>
                </a:solidFill>
                <a:latin typeface="JetBrains Mono"/>
              </a:rPr>
              <a:t>ORCATHON 2026  ·  TRACK 01 SOFTWARE &amp; AI  ·  JAY GHEVARIYA (SOLO)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28F"/>
                </a:solidFill>
                <a:latin typeface="JetBrains Mono"/>
              </a:rPr>
              <a:t>TYPECHECK: CLEAN  ·  SMOKE: ALL PASS  ·  BUILD: 436 ms  ·  DEPLOY: VERCEL  ·  VIDEO: 3-MIN DEMO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