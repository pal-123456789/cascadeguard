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9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89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1371600"/>
            <a:ext cx="4114800" cy="3200400"/>
          </a:xfrm>
          <a:prstGeom prst="ellipse">
            <a:avLst/>
          </a:prstGeom>
          <a:solidFill>
            <a:srgbClr val="0D1520"/>
          </a:solidFill>
          <a:ln w="9525">
            <a:solidFill>
              <a:srgbClr val="141A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02815" cy="429260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9895"/>
            <a:ext cx="20574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900" b="0">
                <a:solidFill>
                  <a:srgbClr val="949CAE"/>
                </a:solidFill>
                <a:latin typeface="JetBrains Mono"/>
              </a:rPr>
              <a:t>ORCATHON 2026  ·  TRACK 01  SOFTWARE &amp; AI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4F6F8"/>
                </a:solidFill>
                <a:latin typeface="Inter"/>
              </a:rPr>
              <a:t>CascadeGuard</a:t>
            </a:r>
            <a:endParaRPr sz="8000" b="1">
              <a:solidFill>
                <a:srgbClr val="F4F6F8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38D0F5"/>
                </a:solidFill>
                <a:latin typeface="Inter"/>
              </a:rPr>
              <a:t>See the outage before it happens.</a:t>
            </a:r>
            <a:endParaRPr sz="3200" b="0">
              <a:solidFill>
                <a:srgbClr val="38D0F5"/>
              </a:solidFill>
              <a:latin typeface="Inter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4297680"/>
            <a:ext cx="5029200" cy="6350"/>
          </a:xfrm>
          <a:prstGeom prst="rect">
            <a:avLst/>
          </a:prstGeom>
          <a:solidFill>
            <a:srgbClr val="1E6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9CAE"/>
                </a:solidFill>
                <a:latin typeface="Inter"/>
              </a:rPr>
              <a:t>A production-grade AI system that predicts cascading software failures, traces root causes, compares recovery strategies with Monte-Carlo simulation, and verifies predictions live against ground truth — fully in your browser.</a:t>
            </a:r>
            <a:endParaRPr sz="14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5806440"/>
            <a:ext cx="3383280" cy="68580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8704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8D0F5"/>
                </a:solidFill>
                <a:latin typeface="Inter"/>
              </a:rPr>
              <a:t>100%</a:t>
            </a:r>
            <a:endParaRPr sz="22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920240" y="58978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9CAE"/>
                </a:solidFill>
                <a:latin typeface="JetBrains Mono"/>
              </a:rPr>
              <a:t>RECALL  ·  0 MISSED  ·  6 HITS</a:t>
            </a:r>
            <a:endParaRPr sz="8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160520" y="5806440"/>
            <a:ext cx="3383280" cy="68580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58704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8D0F5"/>
                </a:solidFill>
                <a:latin typeface="Inter"/>
              </a:rPr>
              <a:t>100%</a:t>
            </a:r>
            <a:endParaRPr sz="22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532120" y="58978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9CAE"/>
                </a:solidFill>
                <a:latin typeface="JetBrains Mono"/>
              </a:rPr>
              <a:t>ORIGIN ACCURACY  ·  4 / 4</a:t>
            </a:r>
            <a:endParaRPr sz="8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772400" y="5806440"/>
            <a:ext cx="3383280" cy="68580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58704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8D0F5"/>
                </a:solidFill>
                <a:latin typeface="Inter"/>
              </a:rPr>
              <a:t>75 s</a:t>
            </a:r>
            <a:endParaRPr sz="22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0" y="58978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9CAE"/>
                </a:solidFill>
                <a:latin typeface="JetBrains Mono"/>
              </a:rPr>
              <a:t>AVG WARNING LEAD  ·  120 s MAX</a:t>
            </a:r>
            <a:endParaRPr sz="8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57200" y="6400800"/>
            <a:ext cx="1124712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59436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ORCATHON 2026  ·  TRACK 01 SOFTWARE &amp; AI  ·  </a:t>
            </a:r>
            <a:r>
              <a:rPr lang="en-IN" sz="800" b="0">
                <a:solidFill>
                  <a:srgbClr val="5A6070"/>
                </a:solidFill>
                <a:latin typeface="JetBrains Mono"/>
              </a:rPr>
              <a:t>PAL</a:t>
            </a:r>
            <a:r>
              <a:rPr sz="800" b="0">
                <a:solidFill>
                  <a:srgbClr val="5A6070"/>
                </a:solidFill>
                <a:latin typeface="JetBrains Mono"/>
              </a:rPr>
              <a:t> GHEVARIYA (SOLO)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15200" y="64739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7A828F"/>
                </a:solidFill>
                <a:latin typeface="JetBrains Mono"/>
              </a:rPr>
              <a:t>GITHUB  ·  pal-123456789/cascadeguard  ·  LIVE  ·  cascadeguard-ten.vercel.app</a:t>
            </a:r>
            <a:endParaRPr sz="800" b="0">
              <a:solidFill>
                <a:srgbClr val="7A828F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377440" cy="528955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9CAE"/>
                </a:solidFill>
                <a:latin typeface="JetBrains Mono"/>
              </a:rPr>
              <a:t>01  ·  THE PROBLEM  ·  DIGITAL TWIN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468880" cy="5029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45720" cy="502920"/>
          </a:xfrm>
          <a:prstGeom prst="rect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0812"/>
                </a:solidFill>
                <a:latin typeface="JetBrains Mono"/>
              </a:rPr>
              <a:t>GATEWAY</a:t>
            </a:r>
            <a:endParaRPr sz="900" b="1">
              <a:solidFill>
                <a:srgbClr val="060812"/>
              </a:solidFill>
              <a:latin typeface="JetBrains Mono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2468880" cy="5029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017520"/>
            <a:ext cx="45720" cy="502920"/>
          </a:xfrm>
          <a:prstGeom prst="rect">
            <a:avLst/>
          </a:prstGeom>
          <a:solidFill>
            <a:srgbClr val="3A566E"/>
          </a:solidFill>
          <a:ln w="9525">
            <a:solidFill>
              <a:srgbClr val="3A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0906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4F6F8"/>
                </a:solidFill>
                <a:latin typeface="JetBrains Mono"/>
              </a:rPr>
              <a:t>ORDERS API</a:t>
            </a:r>
            <a:endParaRPr sz="9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2468880" cy="5029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45720" cy="502920"/>
          </a:xfrm>
          <a:prstGeom prst="rect">
            <a:avLst/>
          </a:prstGeom>
          <a:solidFill>
            <a:srgbClr val="F05A6E"/>
          </a:solidFill>
          <a:ln w="9525">
            <a:solidFill>
              <a:srgbClr val="F05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050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4F6F8"/>
                </a:solidFill>
                <a:latin typeface="JetBrains Mono"/>
              </a:rPr>
              <a:t>ORDERS DB  ·  FAILING</a:t>
            </a:r>
            <a:endParaRPr sz="9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0080" y="2080260"/>
            <a:ext cx="2468880" cy="5029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103120"/>
            <a:ext cx="45720" cy="502920"/>
          </a:xfrm>
          <a:prstGeom prst="rect">
            <a:avLst/>
          </a:prstGeom>
          <a:solidFill>
            <a:srgbClr val="3A566E"/>
          </a:solidFill>
          <a:ln w="9525">
            <a:solidFill>
              <a:srgbClr val="3A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94687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4F6F8"/>
                </a:solidFill>
                <a:latin typeface="JetBrains Mono"/>
              </a:rPr>
              <a:t>INVENTORY API</a:t>
            </a:r>
            <a:endParaRPr sz="9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4846320"/>
            <a:ext cx="2468880" cy="5029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46320"/>
            <a:ext cx="45720" cy="502920"/>
          </a:xfrm>
          <a:prstGeom prst="rect">
            <a:avLst/>
          </a:prstGeom>
          <a:solidFill>
            <a:srgbClr val="3A566E"/>
          </a:solidFill>
          <a:ln w="9525">
            <a:solidFill>
              <a:srgbClr val="3A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9194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4F6F8"/>
                </a:solidFill>
                <a:latin typeface="JetBrains Mono"/>
              </a:rPr>
              <a:t>PAYMENTS API</a:t>
            </a:r>
            <a:endParaRPr sz="9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206240" y="210312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A live digital twin of a 9-service e-commerce cluster.</a:t>
            </a:r>
            <a:endParaRPr sz="2800" b="1">
              <a:solidFill>
                <a:srgbClr val="F4F6F8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206240" y="3017520"/>
            <a:ext cx="7132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9CAE"/>
                </a:solidFill>
                <a:latin typeface="Inter"/>
              </a:rPr>
              <a:t>The gateway feeds APIs; APIs call databases and a cache. When Orders DB's connection pool exhausts, a retry storm amplifies upstream — gateway degradation, orders-api saturation, inventory-api error spike. The cascade isn't a sequence of independent alerts; it's a single failure propagating through a dependency graph. CascadeGuard doesn't watch for symptoms. It predicts the origin.</a:t>
            </a:r>
            <a:endParaRPr sz="14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206240" y="5394960"/>
            <a:ext cx="7132320" cy="8686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553212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8D0F5"/>
                </a:solidFill>
                <a:latin typeface="JetBrains Mono"/>
              </a:rPr>
              <a:t>13 dependency edges  ·  9 services  ·  4 fault scenarios  ·  deterministic seed 42</a:t>
            </a:r>
            <a:endParaRPr sz="1100" b="0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89120" y="5897880"/>
            <a:ext cx="6766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9CAE"/>
                </a:solidFill>
                <a:latin typeface="Inter"/>
              </a:rPr>
              <a:t>Every service, edge weight and capacity is defined in src/core/engine/topology — no synthetic approximation.</a:t>
            </a:r>
            <a:endParaRPr sz="10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57200" y="6400800"/>
            <a:ext cx="1124712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59436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ORCATHON 2026  ·  TRACK 01 SOFTWARE &amp; AI  ·  </a:t>
            </a:r>
            <a:r>
              <a:rPr lang="en-IN" sz="800" b="0">
                <a:solidFill>
                  <a:srgbClr val="5A6070"/>
                </a:solidFill>
                <a:latin typeface="JetBrains Mono"/>
              </a:rPr>
              <a:t>PAL</a:t>
            </a:r>
            <a:r>
              <a:rPr sz="800" b="0">
                <a:solidFill>
                  <a:srgbClr val="5A6070"/>
                </a:solidFill>
                <a:latin typeface="JetBrains Mono"/>
              </a:rPr>
              <a:t> GHEVARIYA (SOLO)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315200" y="64739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7A828F"/>
                </a:solidFill>
                <a:latin typeface="JetBrains Mono"/>
              </a:rPr>
              <a:t>SCENARIO  ·  CONNECTION POOL EXHAUSTION  ·  LIVE  ·  cascadeguard-ten.vercel.app</a:t>
            </a:r>
            <a:endParaRPr sz="800" b="0">
              <a:solidFill>
                <a:srgbClr val="7A828F"/>
              </a:solidFill>
              <a:latin typeface="JetBrai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airplane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419985" cy="548640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9CAE"/>
                </a:solidFill>
                <a:latin typeface="JetBrains Mono"/>
              </a:rPr>
              <a:t>02  ·  PREDICTION  ·  HYBRID AI  ·  120 s LEAD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38D0F5"/>
                </a:solidFill>
                <a:latin typeface="Inter"/>
              </a:rPr>
              <a:t>120 s</a:t>
            </a:r>
            <a:endParaRPr sz="120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JetBrains Mono"/>
              </a:rPr>
              <a:t>WARNING LEAD TIME  ·  BEFORE ORIGIN SERVICE FAILS  ·  SCENARIO: POOL-EXHAUSTION</a:t>
            </a:r>
            <a:endParaRPr sz="11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0" y="1645920"/>
            <a:ext cx="18288" cy="4572000"/>
          </a:xfrm>
          <a:prstGeom prst="rect">
            <a:avLst/>
          </a:prstGeom>
          <a:solidFill>
            <a:srgbClr val="1A2430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645920"/>
            <a:ext cx="5852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F6F8"/>
                </a:solidFill>
                <a:latin typeface="Inter"/>
              </a:rPr>
              <a:t>How it predicts</a:t>
            </a:r>
            <a:endParaRPr sz="2400" b="1">
              <a:solidFill>
                <a:srgbClr val="F4F6F8"/>
              </a:solidFill>
              <a:latin typeface="Inter"/>
            </a:endParaRPr>
          </a:p>
        </p:txBody>
      </p:sp>
      <p:sp>
        <p:nvSpPr>
          <p:cNvPr id="8" name="Oval 7"/>
          <p:cNvSpPr/>
          <p:nvPr/>
        </p:nvSpPr>
        <p:spPr>
          <a:xfrm>
            <a:off x="5760720" y="3182112"/>
            <a:ext cx="91440" cy="91440"/>
          </a:xfrm>
          <a:prstGeom prst="ellipse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9320" y="30175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Logistic risk scorer: 11 weighted signals (memory, saturation, error rate, CPU, p99 latency, EWMA slope trends, log burst).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0" name="Oval 9"/>
          <p:cNvSpPr/>
          <p:nvPr/>
        </p:nvSpPr>
        <p:spPr>
          <a:xfrm>
            <a:off x="5760720" y="3685031"/>
            <a:ext cx="91440" cy="91440"/>
          </a:xfrm>
          <a:prstGeom prst="ellipse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352043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2-hop dependency-graph propagation: risk flows through edges with decay (PROP_GAIN = 0.3).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760720" y="4187952"/>
            <a:ext cx="91440" cy="91440"/>
          </a:xfrm>
          <a:prstGeom prst="ellipse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Self-vs-dependency-explained root-cause scoring: origins score higher than victims.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760720" y="4690872"/>
            <a:ext cx="91440" cy="91440"/>
          </a:xfrm>
          <a:prstGeom prst="ellipse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526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Time-based trend window (120 s): speed-invariant at 1×, 2×, 4× or 20× playback.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760720" y="5193792"/>
            <a:ext cx="91440" cy="91440"/>
          </a:xfrm>
          <a:prstGeom prst="ellipse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50292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Kind-sensitive risk scaling: database 1.2×, queue 1.15×, gateway 0.95×.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3383280" cy="640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961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8D0F5"/>
                </a:solidFill>
                <a:latin typeface="Inter"/>
              </a:rPr>
              <a:t>120 s</a:t>
            </a:r>
            <a:endParaRPr sz="22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828800" y="5623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9CAE"/>
                </a:solidFill>
                <a:latin typeface="JetBrains Mono"/>
              </a:rPr>
              <a:t>BEST CONFIRMED LEAD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114800" y="5486400"/>
            <a:ext cx="3383280" cy="640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55961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8D0F5"/>
                </a:solidFill>
                <a:latin typeface="Inter"/>
              </a:rPr>
              <a:t>0</a:t>
            </a:r>
            <a:endParaRPr sz="22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94960" y="5623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9CAE"/>
                </a:solidFill>
                <a:latin typeface="JetBrains Mono"/>
              </a:rPr>
              <a:t>MISSED FAILURES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680960" y="5486400"/>
            <a:ext cx="3383280" cy="640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55961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8D0F5"/>
                </a:solidFill>
                <a:latin typeface="Inter"/>
              </a:rPr>
              <a:t>100%</a:t>
            </a:r>
            <a:endParaRPr sz="22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961120" y="5623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9CAE"/>
                </a:solidFill>
                <a:latin typeface="JetBrains Mono"/>
              </a:rPr>
              <a:t>RECALL  ·  6 HITS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4712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9436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ORCATHON 2026  ·  TRACK 01 SOFTWARE &amp; AI  ·  </a:t>
            </a:r>
            <a:r>
              <a:rPr lang="en-IN" sz="800" b="0">
                <a:solidFill>
                  <a:srgbClr val="5A6070"/>
                </a:solidFill>
                <a:latin typeface="JetBrains Mono"/>
              </a:rPr>
              <a:t>PAL</a:t>
            </a:r>
            <a:r>
              <a:rPr sz="800" b="0">
                <a:solidFill>
                  <a:srgbClr val="5A6070"/>
                </a:solidFill>
                <a:latin typeface="JetBrains Mono"/>
              </a:rPr>
              <a:t> GHEVARIYA (SOLO)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315200" y="64739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7A828F"/>
                </a:solidFill>
                <a:latin typeface="JetBrains Mono"/>
              </a:rPr>
              <a:t>VERIFIED  ·  scripts/evaluate.ts  ·  docs/evaluation-report.json  ·  SEED 42  ·  12 SIM-MIN</a:t>
            </a:r>
            <a:endParaRPr sz="800" b="0">
              <a:solidFill>
                <a:srgbClr val="7A828F"/>
              </a:solidFill>
              <a:latin typeface="JetBrai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airplane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577465" cy="718185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9CAE"/>
                </a:solidFill>
                <a:latin typeface="JetBrains Mono"/>
              </a:rPr>
              <a:t>03  ·  ROOT CAUSE  ·  SELF-INFLICTED VS DEPENDENCY-EXPLAINED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560320" cy="91440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54864" cy="914400"/>
          </a:xfrm>
          <a:prstGeom prst="rect">
            <a:avLst/>
          </a:prstGeom>
          <a:solidFill>
            <a:srgbClr val="E8A850"/>
          </a:solidFill>
          <a:ln w="9525">
            <a:solidFill>
              <a:srgbClr val="E8A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4F6F8"/>
                </a:solidFill>
                <a:latin typeface="Inter"/>
              </a:rPr>
              <a:t>Edge Gateway</a:t>
            </a:r>
            <a:endParaRPr sz="1200" b="1">
              <a:solidFill>
                <a:srgbClr val="F4F6F8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6A8C"/>
                </a:solidFill>
                <a:latin typeface="JetBrains Mono"/>
              </a:rPr>
              <a:t>SAT: 0.56  ·  ERR: 10%</a:t>
            </a:r>
            <a:endParaRPr sz="800" b="0">
              <a:solidFill>
                <a:srgbClr val="1E6A8C"/>
              </a:solidFill>
              <a:latin typeface="JetBrains Mono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429000" y="2697480"/>
            <a:ext cx="411480" cy="137160"/>
          </a:xfrm>
          <a:prstGeom prst="rightArrow">
            <a:avLst/>
          </a:prstGeom>
          <a:solidFill>
            <a:srgbClr val="38D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0" y="2286000"/>
            <a:ext cx="2560320" cy="91440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2286000"/>
            <a:ext cx="54864" cy="914400"/>
          </a:xfrm>
          <a:prstGeom prst="rect">
            <a:avLst/>
          </a:prstGeom>
          <a:solidFill>
            <a:srgbClr val="3A566E"/>
          </a:solidFill>
          <a:ln w="9525">
            <a:solidFill>
              <a:srgbClr val="3A5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40" y="2468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4F6F8"/>
                </a:solidFill>
                <a:latin typeface="Inter"/>
              </a:rPr>
              <a:t>Orders API</a:t>
            </a:r>
            <a:endParaRPr sz="1200" b="1">
              <a:solidFill>
                <a:srgbClr val="F4F6F8"/>
              </a:solidFill>
              <a:latin typeface="Inte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97764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6A8C"/>
                </a:solidFill>
                <a:latin typeface="JetBrains Mono"/>
              </a:rPr>
              <a:t>SAT: 0.34  ·  ERR: 48%</a:t>
            </a:r>
            <a:endParaRPr sz="800" b="0">
              <a:solidFill>
                <a:srgbClr val="1E6A8C"/>
              </a:solidFill>
              <a:latin typeface="JetBrains Mono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6355080" y="2697480"/>
            <a:ext cx="411480" cy="137160"/>
          </a:xfrm>
          <a:prstGeom prst="rightArrow">
            <a:avLst/>
          </a:prstGeom>
          <a:solidFill>
            <a:srgbClr val="F05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0" y="2286000"/>
            <a:ext cx="2560320" cy="91440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0" y="2286000"/>
            <a:ext cx="54864" cy="914400"/>
          </a:xfrm>
          <a:prstGeom prst="rect">
            <a:avLst/>
          </a:prstGeom>
          <a:solidFill>
            <a:srgbClr val="F05A6E"/>
          </a:solidFill>
          <a:ln w="9525">
            <a:solidFill>
              <a:srgbClr val="F05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468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  <a:latin typeface="Inter"/>
              </a:rPr>
              <a:t>Orders DB  ·  ORIGIN</a:t>
            </a:r>
            <a:endParaRPr sz="1200" b="1">
              <a:solidFill>
                <a:schemeClr val="bg1"/>
              </a:solidFill>
              <a:latin typeface="Inte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8A850"/>
                </a:solidFill>
                <a:latin typeface="JetBrains Mono"/>
              </a:rPr>
              <a:t>SAT: 1.30  ·  ERR: 95%  ·  CONFIDENCE: 95%</a:t>
            </a:r>
            <a:endParaRPr sz="800" b="0">
              <a:solidFill>
                <a:srgbClr val="E8A850"/>
              </a:solidFill>
              <a:latin typeface="JetBrains Mon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9CAE"/>
                </a:solidFill>
                <a:latin typeface="Inter"/>
              </a:rPr>
              <a:t>The root-cause analyser compares self-inflicted severity (service's own saturation, memory, error rate) against dependency-explained share (how much of its error is explained by unhealthy upstream dependencies). The true origin degrades independently — the victim inherits it.</a:t>
            </a:r>
            <a:endParaRPr sz="13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0789920" cy="82296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8D0F5"/>
                </a:solidFill>
                <a:latin typeface="Inter"/>
              </a:rPr>
              <a:t>100% ORIGIN ACCURACY  ·  4 / 4 SCENARIOS</a:t>
            </a:r>
            <a:endParaRPr sz="18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0" y="544068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Predicted origins: orders-db · payments-api · orders-db · payments-db  ·  All match ground truth exactly.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6400800"/>
            <a:ext cx="1124712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59436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ORCATHON 2026  ·  TRACK 01 SOFTWARE &amp; AI  ·  </a:t>
            </a:r>
            <a:r>
              <a:rPr lang="en-IN" sz="800" b="0">
                <a:solidFill>
                  <a:srgbClr val="5A6070"/>
                </a:solidFill>
                <a:latin typeface="JetBrains Mono"/>
              </a:rPr>
              <a:t>PAL</a:t>
            </a:r>
            <a:r>
              <a:rPr sz="800" b="0">
                <a:solidFill>
                  <a:srgbClr val="5A6070"/>
                </a:solidFill>
                <a:latin typeface="JetBrains Mono"/>
              </a:rPr>
              <a:t> GHEVARIYA (SOLO)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0" y="64739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7A828F"/>
                </a:solidFill>
                <a:latin typeface="JetBrains Mono"/>
              </a:rPr>
              <a:t>METHOD  ·  BASELINE (10th PERCENTILE)  ·  DEPENDENCY-EXPLAINED SHARE  ·  PATH STRENGTH (DFS ≤ 4 HOPS)</a:t>
            </a:r>
            <a:endParaRPr sz="800" b="0">
              <a:solidFill>
                <a:srgbClr val="7A828F"/>
              </a:solidFill>
              <a:latin typeface="JetBrai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airplane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374265" cy="619125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9CAE"/>
                </a:solidFill>
                <a:latin typeface="JetBrains Mono"/>
              </a:rPr>
              <a:t>04  ·  RECOVERY  ·  MONTE-CARLO OPTIMIZER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49CAE"/>
                </a:solidFill>
                <a:latin typeface="Inter"/>
              </a:rPr>
              <a:t>Seven strategies · 30 paired rollouts · common random numbers · verdict by baseline comparison</a:t>
            </a:r>
            <a:endParaRPr sz="22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1828800" cy="411480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305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8D0F5"/>
                </a:solidFill>
                <a:latin typeface="JetBrains Mono"/>
              </a:rPr>
              <a:t>STRATEGY</a:t>
            </a:r>
            <a:endParaRPr sz="800" b="1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77440" y="2103120"/>
            <a:ext cx="1828800" cy="411480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21305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8D0F5"/>
                </a:solidFill>
                <a:latin typeface="JetBrains Mono"/>
              </a:rPr>
              <a:t>SUCCESS %</a:t>
            </a:r>
            <a:endParaRPr sz="800" b="1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06240" y="2103120"/>
            <a:ext cx="1828800" cy="411480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21305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8D0F5"/>
                </a:solidFill>
                <a:latin typeface="JetBrains Mono"/>
              </a:rPr>
              <a:t>NEW FAILURES</a:t>
            </a:r>
            <a:endParaRPr sz="800" b="1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35040" y="2103120"/>
            <a:ext cx="1828800" cy="411480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1305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8D0F5"/>
                </a:solidFill>
                <a:latin typeface="JetBrains Mono"/>
              </a:rPr>
              <a:t>DAMAGE</a:t>
            </a:r>
            <a:endParaRPr sz="800" b="1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863840" y="2103120"/>
            <a:ext cx="1828800" cy="411480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305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8D0F5"/>
                </a:solidFill>
                <a:latin typeface="JetBrains Mono"/>
              </a:rPr>
              <a:t>MTTR</a:t>
            </a:r>
            <a:endParaRPr sz="800" b="1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692640" y="2103120"/>
            <a:ext cx="1645920" cy="411480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8360" y="21305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8D0F5"/>
                </a:solidFill>
                <a:latin typeface="JetBrains Mono"/>
              </a:rPr>
              <a:t>VERDICT</a:t>
            </a:r>
            <a:endParaRPr sz="800" b="1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334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failover:orders-db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77440" y="256032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26334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100%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06240" y="256032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26334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0.0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035040" y="256032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26334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0.0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863840" y="256032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0" y="26334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12m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692640" y="2560320"/>
            <a:ext cx="164592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92640" y="2560320"/>
            <a:ext cx="27432" cy="438912"/>
          </a:xfrm>
          <a:prstGeom prst="rect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263347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8D0F5"/>
                </a:solidFill>
                <a:latin typeface="JetBrains Mono"/>
              </a:rPr>
              <a:t>RECOMMENDED</a:t>
            </a:r>
            <a:endParaRPr sz="1000" b="1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48640" y="3063239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136391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circuit-breaker:orders-db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377440" y="3063239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0" y="3136391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0%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206240" y="3063239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0" y="3136391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2.6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035040" y="3063239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3136391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128.0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863840" y="3063239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0" y="3136391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12m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9692640" y="3063239"/>
            <a:ext cx="164592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84080" y="3136391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5A6E"/>
                </a:solidFill>
                <a:latin typeface="JetBrains Mono"/>
              </a:rPr>
              <a:t>NOT RECOMMENDED</a:t>
            </a:r>
            <a:endParaRPr sz="1000" b="1">
              <a:solidFill>
                <a:srgbClr val="F05A6E"/>
              </a:solidFill>
              <a:latin typeface="JetBrains Mono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48640" y="356616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63931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restart:orders-db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377440" y="356616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0" y="363931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0%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206240" y="356616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80" y="363931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3.0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035040" y="356616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0" y="363931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401.0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7863840" y="356616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80" y="363931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12m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9692640" y="3566160"/>
            <a:ext cx="164592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80" y="363931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5A6E"/>
                </a:solidFill>
                <a:latin typeface="JetBrains Mono"/>
              </a:rPr>
              <a:t>NOT RECOMMENDED</a:t>
            </a:r>
            <a:endParaRPr sz="1000" b="1">
              <a:solidFill>
                <a:srgbClr val="F05A6E"/>
              </a:solidFill>
              <a:latin typeface="JetBrains Mono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48640" y="4069080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414223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shed-load:gateway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377440" y="4069080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68880" y="414223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0%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206240" y="4069080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97680" y="414223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3.6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6035040" y="4069080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26480" y="414223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158.0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7863840" y="4069080"/>
            <a:ext cx="182880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55280" y="414223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12m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9692640" y="4069080"/>
            <a:ext cx="1645920" cy="438912"/>
          </a:xfrm>
          <a:prstGeom prst="rect">
            <a:avLst/>
          </a:prstGeom>
          <a:solidFill>
            <a:srgbClr val="10141C"/>
          </a:solidFill>
          <a:ln w="9525">
            <a:solidFill>
              <a:srgbClr val="10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0" y="414223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5A6E"/>
                </a:solidFill>
                <a:latin typeface="JetBrains Mono"/>
              </a:rPr>
              <a:t>NOT RECOMMENDED</a:t>
            </a:r>
            <a:endParaRPr sz="1000" b="1">
              <a:solidFill>
                <a:srgbClr val="F05A6E"/>
              </a:solidFill>
              <a:latin typeface="JetBrains Mon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548640" y="457200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46451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no-action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2377440" y="457200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0" y="46451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0%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206240" y="457200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97680" y="46451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3.5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035040" y="457200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26480" y="46451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155.0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7863840" y="4572000"/>
            <a:ext cx="182880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55280" y="46451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F6F8"/>
                </a:solidFill>
                <a:latin typeface="JetBrains Mono"/>
              </a:rPr>
              <a:t>12m</a:t>
            </a:r>
            <a:endParaRPr sz="1000" b="1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9692640" y="4572000"/>
            <a:ext cx="1645920" cy="438912"/>
          </a:xfrm>
          <a:prstGeom prst="rect">
            <a:avLst/>
          </a:prstGeom>
          <a:solidFill>
            <a:srgbClr val="0D1118"/>
          </a:solidFill>
          <a:ln w="9525">
            <a:solidFill>
              <a:srgbClr val="0D11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84080" y="46451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5A6E"/>
                </a:solidFill>
                <a:latin typeface="JetBrains Mono"/>
              </a:rPr>
              <a:t>NOT RECOMMENDED</a:t>
            </a:r>
            <a:endParaRPr sz="1000" b="1">
              <a:solidFill>
                <a:srgbClr val="F05A6E"/>
              </a:solidFill>
              <a:latin typeface="JetBrains Mono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48640" y="5120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Paired common-random-number rollouts mean the measured lift (recommended vs not-recommended) is attributable to the action — not random noise. A strategy is 'recommended' only if it beats the no-action baseline (success ≥ 50% + positive lift).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ABSTRACT MODEL  ·  DEMAND FLOWS TOPOLOGICALLY  ·  SPILLOVER + RETRY PRESSURE  ·  144 STEPS (12 MIN)  ·  5 s / STEP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457200" y="6400800"/>
            <a:ext cx="1124712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6473952"/>
            <a:ext cx="59436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ORCATHON 2026  ·  TRACK 01 SOFTWARE &amp; AI  ·  </a:t>
            </a:r>
            <a:r>
              <a:rPr lang="en-IN" sz="800" b="0">
                <a:solidFill>
                  <a:srgbClr val="5A6070"/>
                </a:solidFill>
                <a:latin typeface="JetBrains Mono"/>
              </a:rPr>
              <a:t>PAL</a:t>
            </a:r>
            <a:r>
              <a:rPr sz="800" b="0">
                <a:solidFill>
                  <a:srgbClr val="5A6070"/>
                </a:solidFill>
                <a:latin typeface="JetBrains Mono"/>
              </a:rPr>
              <a:t> GHEVARIYA (SOLO)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315200" y="64739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7A828F"/>
                </a:solidFill>
                <a:latin typeface="JetBrains Mono"/>
              </a:rPr>
              <a:t>SCENARIO  ·  POOL-EXHAUSTION  ·  30 ROLLOUTS  ·  SEED 42  ·  PAID BASELINE SHARED ACROSS ALL STRATEGIES</a:t>
            </a:r>
            <a:endParaRPr sz="800" b="0">
              <a:solidFill>
                <a:srgbClr val="7A828F"/>
              </a:solidFill>
              <a:latin typeface="JetBrai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airplan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284095" cy="652780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9CAE"/>
                </a:solidFill>
                <a:latin typeface="JetBrains Mono"/>
              </a:rPr>
              <a:t>05  ·  BUSINESS IMPACT  ·  SLO METRICS  ·  NOT SERVICE NAMES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4F6F8"/>
                </a:solidFill>
                <a:latin typeface="Inter"/>
              </a:rPr>
              <a:t>What a CTO asks about — converted live from telemetry into business language</a:t>
            </a:r>
            <a:endParaRPr sz="2400" b="0">
              <a:solidFill>
                <a:srgbClr val="F4F6F8"/>
              </a:solidFill>
              <a:latin typeface="Inte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3566160" cy="2926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3566160" cy="36576"/>
          </a:xfrm>
          <a:prstGeom prst="rect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8D0F5"/>
                </a:solidFill>
                <a:latin typeface="JetBrains Mono"/>
              </a:rPr>
              <a:t>SLO BURN RATE</a:t>
            </a:r>
            <a:endParaRPr sz="1000" b="0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8D0F5"/>
                </a:solidFill>
                <a:latin typeface="Inter"/>
              </a:rPr>
              <a:t>11.37×</a:t>
            </a:r>
            <a:endParaRPr sz="36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38862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Critical threshold exceeded rapidly. Budget depletion accelerates as unhealthy services accumulate.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5212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DERIVED FROM SLO THRESHOLD COMPARISON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97679" y="2194560"/>
            <a:ext cx="3566160" cy="2926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2194560"/>
            <a:ext cx="3566160" cy="36576"/>
          </a:xfrm>
          <a:prstGeom prst="rect">
            <a:avLst/>
          </a:prstGeom>
          <a:solidFill>
            <a:srgbClr val="E8A850"/>
          </a:solidFill>
          <a:ln w="9525">
            <a:solidFill>
              <a:srgbClr val="E8A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24688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A850"/>
                </a:solidFill>
                <a:latin typeface="JetBrains Mono"/>
              </a:rPr>
              <a:t>USER FLOW DEGRADED</a:t>
            </a:r>
            <a:endParaRPr sz="1000" b="0">
              <a:solidFill>
                <a:srgbClr val="E8A850"/>
              </a:solidFill>
              <a:latin typeface="JetBrains Mono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79" y="28346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A850"/>
                </a:solidFill>
                <a:latin typeface="Inter"/>
              </a:rPr>
              <a:t>100%</a:t>
            </a:r>
            <a:endParaRPr sz="3600" b="1">
              <a:solidFill>
                <a:srgbClr val="E8A850"/>
              </a:solidFill>
              <a:latin typeface="Inte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26279" y="38862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Every critical user journey affected by the cascading failure originating at Orders DB.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26279" y="5212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DERIVED FROM SERVICE STATUS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046719" y="2194560"/>
            <a:ext cx="3566160" cy="2926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2194560"/>
            <a:ext cx="3566160" cy="36576"/>
          </a:xfrm>
          <a:prstGeom prst="rect">
            <a:avLst/>
          </a:prstGeom>
          <a:solidFill>
            <a:srgbClr val="F05A6E"/>
          </a:solidFill>
          <a:ln w="9525">
            <a:solidFill>
              <a:srgbClr val="F05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4688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05A6E"/>
                </a:solidFill>
                <a:latin typeface="JetBrains Mono"/>
              </a:rPr>
              <a:t>REVENUE AT RISK</a:t>
            </a:r>
            <a:endParaRPr sz="1000" b="0">
              <a:solidFill>
                <a:srgbClr val="F05A6E"/>
              </a:solidFill>
              <a:latin typeface="JetBrains Mono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75319" y="28346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5A6E"/>
                </a:solidFill>
                <a:latin typeface="Inter"/>
              </a:rPr>
              <a:t>$34.2k / min</a:t>
            </a:r>
            <a:endParaRPr sz="3600" b="1">
              <a:solidFill>
                <a:srgbClr val="F05A6E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75319" y="38862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Estimated loss rate at time of incident opening — computed live from service criticality weights.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75319" y="5212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COMPUTED LIVE FROM ENGINE SNAPSHOT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48640" y="6080760"/>
            <a:ext cx="10972165" cy="41910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6A8C"/>
                </a:solidFill>
                <a:latin typeface="JetBrains Mono"/>
              </a:rPr>
              <a:t>IMPACT PANEL  ·  SEVERITY: CRITICAL (5+ AFFECTED SERVICES)  ·  COMPUTED FROM snap.metrics  ·  NO HAND-WRITTEN ESTIMATES</a:t>
            </a:r>
            <a:endParaRPr sz="900" b="0">
              <a:solidFill>
                <a:srgbClr val="1E6A8C"/>
              </a:solidFill>
              <a:latin typeface="JetBrains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8640" y="6523482"/>
            <a:ext cx="59436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ORCATHON 2026  ·  TRACK 01 SOFTWARE &amp; AI  ·  </a:t>
            </a:r>
            <a:r>
              <a:rPr lang="en-IN" sz="800" b="0">
                <a:solidFill>
                  <a:srgbClr val="5A6070"/>
                </a:solidFill>
                <a:latin typeface="JetBrains Mono"/>
              </a:rPr>
              <a:t>PAL</a:t>
            </a:r>
            <a:r>
              <a:rPr sz="800" b="0">
                <a:solidFill>
                  <a:srgbClr val="5A6070"/>
                </a:solidFill>
                <a:latin typeface="JetBrains Mono"/>
              </a:rPr>
              <a:t> GHEVARIYA (SOLO)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02170" y="652348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7A828F"/>
                </a:solidFill>
                <a:latin typeface="JetBrains Mono"/>
              </a:rPr>
              <a:t>SCENARIO  ·  POOL-EXHAUSTION  ·  SEVERITY: CRITICAL  ·  AFFECTED SERVICES: 4</a:t>
            </a:r>
            <a:endParaRPr sz="800" b="0">
              <a:solidFill>
                <a:srgbClr val="7A828F"/>
              </a:solidFill>
              <a:latin typeface="JetBrai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airplan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468880" cy="685165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9CAE"/>
                </a:solidFill>
                <a:latin typeface="JetBrains Mono"/>
              </a:rPr>
              <a:t>06  ·  MEASURED BENCHMARKS  ·  REGENERATED BY ENGINE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9CAE"/>
                </a:solidFill>
                <a:latin typeface="Inter"/>
              </a:rPr>
              <a:t>Every figure below is produced by scripts/evaluate.ts — 4 scenarios, seed 42, 12 sim-min each — and rendered live in the dashboard.</a:t>
            </a:r>
            <a:endParaRPr sz="16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51760" cy="25603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651760" cy="36576"/>
          </a:xfrm>
          <a:prstGeom prst="rect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8D0F5"/>
                </a:solidFill>
                <a:latin typeface="Inter"/>
              </a:rPr>
              <a:t>75 s</a:t>
            </a:r>
            <a:endParaRPr sz="36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8D0F5"/>
                </a:solidFill>
                <a:latin typeface="JetBrains Mono"/>
              </a:rPr>
              <a:t>AVERAGE WARNING LEAD TIME</a:t>
            </a:r>
            <a:endParaRPr sz="900" b="0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9CAE"/>
                </a:solidFill>
                <a:latin typeface="Inter"/>
              </a:rPr>
              <a:t>Up to 120 s in the flagship pool-exhaustion scenario.</a:t>
            </a:r>
            <a:endParaRPr sz="10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37560" y="2011680"/>
            <a:ext cx="2651760" cy="25603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2011680"/>
            <a:ext cx="2651760" cy="36576"/>
          </a:xfrm>
          <a:prstGeom prst="rect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2402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8D0F5"/>
                </a:solidFill>
                <a:latin typeface="Inter"/>
              </a:rPr>
              <a:t>100%</a:t>
            </a:r>
            <a:endParaRPr sz="36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20440" y="31089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8D0F5"/>
                </a:solidFill>
                <a:latin typeface="JetBrains Mono"/>
              </a:rPr>
              <a:t>ORIGIN ACCURACY</a:t>
            </a:r>
            <a:endParaRPr sz="900" b="0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20440" y="36576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9CAE"/>
                </a:solidFill>
                <a:latin typeface="Inter"/>
              </a:rPr>
              <a:t>True origin identified correctly across all 4 fault scenarios.</a:t>
            </a:r>
            <a:endParaRPr sz="10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2651760" cy="25603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79" y="2011680"/>
            <a:ext cx="2651760" cy="36576"/>
          </a:xfrm>
          <a:prstGeom prst="rect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22402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8D0F5"/>
                </a:solidFill>
                <a:latin typeface="Inter"/>
              </a:rPr>
              <a:t>100%</a:t>
            </a:r>
            <a:endParaRPr sz="36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09359" y="31089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8D0F5"/>
                </a:solidFill>
                <a:latin typeface="JetBrains Mono"/>
              </a:rPr>
              <a:t>RECALL  ·  6 HITS  ·  0 MISSED</a:t>
            </a:r>
            <a:endParaRPr sz="900" b="0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09359" y="36576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9CAE"/>
                </a:solidFill>
                <a:latin typeface="Inter"/>
              </a:rPr>
              <a:t>Every failure was predicted before it occurred — no false negatives.</a:t>
            </a:r>
            <a:endParaRPr sz="10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915399" y="2011680"/>
            <a:ext cx="2651760" cy="256032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15399" y="2011680"/>
            <a:ext cx="2651760" cy="36576"/>
          </a:xfrm>
          <a:prstGeom prst="rect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79" y="22402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8D0F5"/>
                </a:solidFill>
                <a:latin typeface="Inter"/>
              </a:rPr>
              <a:t>75%</a:t>
            </a:r>
            <a:endParaRPr sz="3600" b="1">
              <a:solidFill>
                <a:srgbClr val="38D0F5"/>
              </a:solidFill>
              <a:latin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098279" y="31089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8D0F5"/>
                </a:solidFill>
                <a:latin typeface="JetBrains Mono"/>
              </a:rPr>
              <a:t>PRECISION  ·  HONEST REPORTING</a:t>
            </a:r>
            <a:endParaRPr sz="900" b="0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98279" y="36576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9CAE"/>
                </a:solidFill>
                <a:latin typeface="Inter"/>
              </a:rPr>
              <a:t>2 false alarms out of 8 predictions — reported, not smoothed away.</a:t>
            </a:r>
            <a:endParaRPr sz="10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48640" y="4846320"/>
            <a:ext cx="11064240" cy="822960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29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8D0F5"/>
                </a:solidFill>
                <a:latin typeface="JetBrains Mono"/>
              </a:rPr>
              <a:t>POOL-EXHAUSTION  ·  MEMORY-LEAK  ·  TRAFFIC-SURGE  ·  RETRY-STORM</a:t>
            </a:r>
            <a:endParaRPr sz="1000" b="0">
              <a:solidFill>
                <a:srgbClr val="38D0F5"/>
              </a:solidFill>
              <a:latin typeface="JetBrains Mono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" y="5303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4F6F8"/>
                </a:solidFill>
                <a:latin typeface="JetBrains Mono"/>
              </a:rPr>
              <a:t>AVG LEAD: 75 s  ·  ORIGIN ACC: 100%  ·  PRECISION: 75%  ·  RECALL: 100%  ·  HITS: 6  ·  MISSED: 0</a:t>
            </a:r>
            <a:endParaRPr sz="900" b="0">
              <a:solidFill>
                <a:srgbClr val="F4F6F8"/>
              </a:solidFill>
              <a:latin typeface="JetBrains Mono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" y="5806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SOURCE  ·  docs/evaluation-report.json  ·  public/evaluation-report.json  ·  SEED 42  ·  4 SCENARIOS  ·  12 SIM-MIN EACH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4712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9436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ORCATHON 2026  ·  TRACK 01 SOFTWARE &amp; AI  ·  </a:t>
            </a:r>
            <a:r>
              <a:rPr lang="en-IN" sz="800" b="0">
                <a:solidFill>
                  <a:srgbClr val="5A6070"/>
                </a:solidFill>
                <a:latin typeface="JetBrains Mono"/>
              </a:rPr>
              <a:t>Pal</a:t>
            </a:r>
            <a:r>
              <a:rPr sz="800" b="0">
                <a:solidFill>
                  <a:srgbClr val="5A6070"/>
                </a:solidFill>
                <a:latin typeface="JetBrains Mono"/>
              </a:rPr>
              <a:t> GHEVARIYA (SOLO)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315200" y="64739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7A828F"/>
                </a:solidFill>
                <a:latin typeface="JetBrains Mono"/>
              </a:rPr>
              <a:t>VERIFIED HEADLESS  ·  scripts/evaluate.ts  ·  NO HAND-WRITTEN NUMBERS</a:t>
            </a:r>
            <a:endParaRPr sz="800" b="0">
              <a:solidFill>
                <a:srgbClr val="7A828F"/>
              </a:solidFill>
              <a:latin typeface="JetBrai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airplane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267585" cy="455930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6595" y="384175"/>
            <a:ext cx="2119630" cy="438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900" b="0">
                <a:solidFill>
                  <a:srgbClr val="949CAE"/>
                </a:solidFill>
                <a:latin typeface="JetBrains Mono"/>
              </a:rPr>
              <a:t>07  ·  ARCHITECTURE  ·  FULLY CLIENT-SIDE  ·  NO BACKEND</a:t>
            </a:r>
            <a:endParaRPr sz="900" b="0">
              <a:solidFill>
                <a:srgbClr val="949CAE"/>
              </a:solidFill>
              <a:latin typeface="JetBrains Mon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4F6F8"/>
                </a:solidFill>
                <a:latin typeface="Inter"/>
              </a:rPr>
              <a:t>Deterministic twin · Hybrid AI · Verified dashboard</a:t>
            </a:r>
            <a:endParaRPr sz="2800" b="0">
              <a:solidFill>
                <a:srgbClr val="F4F6F8"/>
              </a:solidFill>
              <a:latin typeface="Inte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520440" cy="2926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38D0F5"/>
          </a:solidFill>
          <a:ln w="9525">
            <a:solidFill>
              <a:srgbClr val="38D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59152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0812"/>
                </a:solidFill>
                <a:latin typeface="Inter"/>
              </a:rPr>
              <a:t>01</a:t>
            </a:r>
            <a:endParaRPr sz="1400" b="1">
              <a:solidFill>
                <a:srgbClr val="060812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63040" y="22402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DETERMINISTIC ENGINE</a:t>
            </a:r>
            <a:endParaRPr sz="1400" b="1">
              <a:solidFill>
                <a:srgbClr val="F4F6F8"/>
              </a:solidFill>
              <a:latin typeface="Inter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77240" y="3063240"/>
            <a:ext cx="306324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Seeded mulberry32 PRNG. 9 services · 13 dependency edges · 600 ms real tick = 3000 ms sim step. Telemetry published every simulation step — speed-invariant EWMA trend features.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51959" y="2011680"/>
            <a:ext cx="3520440" cy="2926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80559" y="2240280"/>
            <a:ext cx="594360" cy="594360"/>
          </a:xfrm>
          <a:prstGeom prst="ellipse">
            <a:avLst/>
          </a:prstGeom>
          <a:solidFill>
            <a:srgbClr val="34D399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2359152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0812"/>
                </a:solidFill>
                <a:latin typeface="Inter"/>
              </a:rPr>
              <a:t>02</a:t>
            </a:r>
            <a:endParaRPr sz="1400" b="1">
              <a:solidFill>
                <a:srgbClr val="060812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66359" y="22402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HYBRID AI STACK</a:t>
            </a:r>
            <a:endParaRPr sz="1400" b="1">
              <a:solidFill>
                <a:srgbClr val="F4F6F8"/>
              </a:solidFill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480559" y="3063240"/>
            <a:ext cx="306324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32004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Logistic risk scorer (EWMA + slope features) · 2-hop graph propagation · self-vs-dependency-explained root-cause scoring · paired Monte-Carlo recovery (30 rollouts / 7 strategies).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955279" y="2011680"/>
            <a:ext cx="3520440" cy="2926080"/>
          </a:xfrm>
          <a:prstGeom prst="roundRect">
            <a:avLst>
              <a:gd name="adj" fmla="val 3000"/>
            </a:avLst>
          </a:prstGeom>
          <a:solidFill>
            <a:srgbClr val="0D1118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83879" y="2240280"/>
            <a:ext cx="594360" cy="594360"/>
          </a:xfrm>
          <a:prstGeom prst="ellipse">
            <a:avLst/>
          </a:prstGeom>
          <a:solidFill>
            <a:srgbClr val="E8A850"/>
          </a:solidFill>
          <a:ln w="9525">
            <a:solidFill>
              <a:srgbClr val="E8A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2359152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0812"/>
                </a:solidFill>
                <a:latin typeface="Inter"/>
              </a:rPr>
              <a:t>03</a:t>
            </a:r>
            <a:endParaRPr sz="1400" b="1">
              <a:solidFill>
                <a:srgbClr val="060812"/>
              </a:solidFill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869679" y="22402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VERIFIED DASHBOARD</a:t>
            </a:r>
            <a:endParaRPr sz="1400" b="1">
              <a:solidFill>
                <a:srgbClr val="F4F6F8"/>
              </a:solidFill>
              <a:latin typeface="Inte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183879" y="3063240"/>
            <a:ext cx="306324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32004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9CAE"/>
                </a:solidFill>
                <a:latin typeface="Inter"/>
              </a:rPr>
              <a:t>Prediction Ledger (✓ HIT / false-alarm / missed) · Service Deep-Dive drawer (metrics + trends + dependency graph) · Measured Benchmarks · Markdown incident report · keyboard shortcuts.</a:t>
            </a:r>
            <a:endParaRPr sz="1100" b="0">
              <a:solidFill>
                <a:srgbClr val="949CAE"/>
              </a:solidFill>
              <a:latin typeface="Inte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48640" y="5212080"/>
            <a:ext cx="11064240" cy="1005840"/>
          </a:xfrm>
          <a:prstGeom prst="roundRect">
            <a:avLst>
              <a:gd name="adj" fmla="val 3000"/>
            </a:avLst>
          </a:prstGeom>
          <a:solidFill>
            <a:srgbClr val="10141C"/>
          </a:solidFill>
          <a:ln w="9525">
            <a:solidFill>
              <a:srgbClr val="1A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394960"/>
            <a:ext cx="105156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4F6F8"/>
                </a:solidFill>
                <a:latin typeface="Inter"/>
              </a:rPr>
              <a:t>Predict · Trace · Recover  ·  Fully open source  ·  Live: cascadeguard-ten.vercel.app  ·  GitHub: pal-123456789/cascadeguard  ·  Built for Orcathon 2026 · </a:t>
            </a:r>
            <a:r>
              <a:rPr lang="en-IN" sz="1400" b="0">
                <a:solidFill>
                  <a:srgbClr val="F4F6F8"/>
                </a:solidFill>
                <a:latin typeface="Inter"/>
              </a:rPr>
              <a:t>Pal</a:t>
            </a:r>
            <a:r>
              <a:rPr sz="1400" b="0">
                <a:solidFill>
                  <a:srgbClr val="F4F6F8"/>
                </a:solidFill>
                <a:latin typeface="Inter"/>
              </a:rPr>
              <a:t> Ghevariya (solo)</a:t>
            </a:r>
            <a:endParaRPr sz="1400" b="0">
              <a:solidFill>
                <a:srgbClr val="F4F6F8"/>
              </a:solidFill>
              <a:latin typeface="Inte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E6A8C"/>
                </a:solidFill>
                <a:latin typeface="JetBrains Mono"/>
              </a:rPr>
              <a:t>Every claim verified by the engine's own ground truth · Every number regenerated by scripts/evaluate.ts · No black-box AI · No hand-written estimates</a:t>
            </a:r>
            <a:endParaRPr sz="1000" b="0">
              <a:solidFill>
                <a:srgbClr val="1E6A8C"/>
              </a:solidFill>
              <a:latin typeface="JetBrains Mono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57200" y="6400800"/>
            <a:ext cx="11247120" cy="6350"/>
          </a:xfrm>
          <a:prstGeom prst="rect">
            <a:avLst/>
          </a:prstGeom>
          <a:solidFill>
            <a:srgbClr val="1A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59436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A6070"/>
                </a:solidFill>
                <a:latin typeface="JetBrains Mono"/>
              </a:rPr>
              <a:t>ORCATHON 2026  ·  TRACK 01 SOFTWARE &amp; AI  ·  </a:t>
            </a:r>
            <a:r>
              <a:rPr lang="en-IN" sz="800" b="0">
                <a:solidFill>
                  <a:srgbClr val="5A6070"/>
                </a:solidFill>
                <a:latin typeface="JetBrains Mono"/>
              </a:rPr>
              <a:t>PAL</a:t>
            </a:r>
            <a:r>
              <a:rPr sz="800" b="0">
                <a:solidFill>
                  <a:srgbClr val="5A6070"/>
                </a:solidFill>
                <a:latin typeface="JetBrains Mono"/>
              </a:rPr>
              <a:t> GHEVARIYA (SOLO)</a:t>
            </a:r>
            <a:endParaRPr sz="800" b="0">
              <a:solidFill>
                <a:srgbClr val="5A6070"/>
              </a:solidFill>
              <a:latin typeface="JetBrains Mono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315200" y="64739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7A828F"/>
                </a:solidFill>
                <a:latin typeface="JetBrains Mono"/>
              </a:rPr>
              <a:t>TYPECHECK: CLEAN  ·  SMOKE: ALL PASS  ·  BUILD: 436 ms  ·  DEPLOY: VERCEL  ·  VIDEO: 3-MIN DEMO READY</a:t>
            </a:r>
            <a:endParaRPr sz="800" b="0">
              <a:solidFill>
                <a:srgbClr val="7A828F"/>
              </a:solidFill>
              <a:latin typeface="JetBrains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airplane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6937</Words>
  <Application>WPS Presentation</Application>
  <PresentationFormat>On-screen Show (4:3)</PresentationFormat>
  <Paragraphs>292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SimSun</vt:lpstr>
      <vt:lpstr>Wingdings</vt:lpstr>
      <vt:lpstr>Arial</vt:lpstr>
      <vt:lpstr>JetBrains Mono</vt:lpstr>
      <vt:lpstr>Segoe Print</vt:lpstr>
      <vt:lpstr>Inter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Abc Hello</cp:lastModifiedBy>
  <cp:revision>2</cp:revision>
  <dcterms:created xsi:type="dcterms:W3CDTF">2013-01-27T09:14:00Z</dcterms:created>
  <dcterms:modified xsi:type="dcterms:W3CDTF">2026-10-25T09:53:18Z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1033-12.1.0.25242</vt:lpwstr>
  </property>
  <property fmtid="{D5CDD505-2E9C-101B-9397-08002B2CF9AE}" pid="3" name="ICV">
    <vt:lpwstr>3B7AAE0A49E14F229F0BBC9DB913BBF6_12</vt:lpwstr>
  </property>
</Properties>
</file>